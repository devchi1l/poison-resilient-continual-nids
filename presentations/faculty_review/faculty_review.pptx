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f6458e034d4afa" /><Relationship Type="http://schemas.openxmlformats.org/officeDocument/2006/relationships/extended-properties" Target="/docProps/app.xml" Id="R1eefb0efb21e4a81" /><Relationship Type="http://schemas.openxmlformats.org/officeDocument/2006/relationships/officeDocument" Target="/ppt/presentation.xml" Id="R316f231365054964" /></Relationships>
</file>

<file path=ppt/presentation.xml><?xml version="1.0" encoding="utf-8"?>
<p:presentation xmlns:p="http://schemas.openxmlformats.org/presentationml/2006/main">
  <p:sldMasterIdLst>
    <p:sldMasterId xmlns:r="http://schemas.openxmlformats.org/officeDocument/2006/relationships" id="2147483648" r:id="R213263c36e844dfa"/>
  </p:sldMasterIdLst>
  <p:notesMasterIdLst>
    <p:notesMasterId xmlns:r="http://schemas.openxmlformats.org/officeDocument/2006/relationships" r:id="R0c7b38a5be33411b"/>
  </p:notesMasterIdLst>
  <p:sldIdLst>
    <p:sldId xmlns:r="http://schemas.openxmlformats.org/officeDocument/2006/relationships" id="256" r:id="R62fbae8b68484273"/>
    <p:sldId xmlns:r="http://schemas.openxmlformats.org/officeDocument/2006/relationships" id="257" r:id="R06446355c5d141f9"/>
    <p:sldId xmlns:r="http://schemas.openxmlformats.org/officeDocument/2006/relationships" id="258" r:id="Rb1b1acedaf224d58"/>
    <p:sldId xmlns:r="http://schemas.openxmlformats.org/officeDocument/2006/relationships" id="259" r:id="R3789dfc16bd2442f"/>
    <p:sldId xmlns:r="http://schemas.openxmlformats.org/officeDocument/2006/relationships" id="260" r:id="R8f39d0d7c3a74975"/>
    <p:sldId xmlns:r="http://schemas.openxmlformats.org/officeDocument/2006/relationships" id="261" r:id="R2be97e14815549a7"/>
    <p:sldId xmlns:r="http://schemas.openxmlformats.org/officeDocument/2006/relationships" id="262" r:id="R304a6b409d5640c1"/>
    <p:sldId xmlns:r="http://schemas.openxmlformats.org/officeDocument/2006/relationships" id="263" r:id="Rc96209c2ec8a45fd"/>
    <p:sldId xmlns:r="http://schemas.openxmlformats.org/officeDocument/2006/relationships" id="264" r:id="Rac0e42aeac1d4e6e"/>
    <p:sldId xmlns:r="http://schemas.openxmlformats.org/officeDocument/2006/relationships" id="265" r:id="R6e44d7645ec549dd"/>
    <p:sldId xmlns:r="http://schemas.openxmlformats.org/officeDocument/2006/relationships" id="266" r:id="Ra28db30e480c4828"/>
    <p:sldId xmlns:r="http://schemas.openxmlformats.org/officeDocument/2006/relationships" id="267" r:id="R7a1de4b630ba4586"/>
    <p:sldId xmlns:r="http://schemas.openxmlformats.org/officeDocument/2006/relationships" id="268" r:id="R160a9e47a07a4e1d"/>
    <p:sldId xmlns:r="http://schemas.openxmlformats.org/officeDocument/2006/relationships" id="269" r:id="R7bfa8fb500574dc5"/>
    <p:sldId xmlns:r="http://schemas.openxmlformats.org/officeDocument/2006/relationships" id="270" r:id="R11e8a9a11a0f4d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6603fab62f4e83" /><Relationship Type="http://schemas.openxmlformats.org/officeDocument/2006/relationships/slideMaster" Target="/ppt/slideMasters/slideMaster1.xml" Id="R213263c36e844dfa" /><Relationship Type="http://schemas.openxmlformats.org/officeDocument/2006/relationships/notesMaster" Target="/ppt/notesMasters/notesMaster1.xml" Id="R0c7b38a5be33411b" /><Relationship Type="http://schemas.openxmlformats.org/officeDocument/2006/relationships/presProps" Target="/ppt/presProps.xml" Id="Rc485f3fa0d274fbf" /><Relationship Type="http://schemas.openxmlformats.org/officeDocument/2006/relationships/tableStyles" Target="/ppt/tableStyles.xml" Id="R93981b560d1945cc" /><Relationship Type="http://schemas.openxmlformats.org/officeDocument/2006/relationships/slide" Target="/ppt/slides/slide1.xml" Id="R62fbae8b68484273" /><Relationship Type="http://schemas.openxmlformats.org/officeDocument/2006/relationships/slide" Target="/ppt/slides/slide2.xml" Id="R06446355c5d141f9" /><Relationship Type="http://schemas.openxmlformats.org/officeDocument/2006/relationships/slide" Target="/ppt/slides/slide3.xml" Id="Rb1b1acedaf224d58" /><Relationship Type="http://schemas.openxmlformats.org/officeDocument/2006/relationships/slide" Target="/ppt/slides/slide4.xml" Id="R3789dfc16bd2442f" /><Relationship Type="http://schemas.openxmlformats.org/officeDocument/2006/relationships/slide" Target="/ppt/slides/slide5.xml" Id="R8f39d0d7c3a74975" /><Relationship Type="http://schemas.openxmlformats.org/officeDocument/2006/relationships/slide" Target="/ppt/slides/slide6.xml" Id="R2be97e14815549a7" /><Relationship Type="http://schemas.openxmlformats.org/officeDocument/2006/relationships/slide" Target="/ppt/slides/slide7.xml" Id="R304a6b409d5640c1" /><Relationship Type="http://schemas.openxmlformats.org/officeDocument/2006/relationships/slide" Target="/ppt/slides/slide8.xml" Id="Rc96209c2ec8a45fd" /><Relationship Type="http://schemas.openxmlformats.org/officeDocument/2006/relationships/slide" Target="/ppt/slides/slide9.xml" Id="Rac0e42aeac1d4e6e" /><Relationship Type="http://schemas.openxmlformats.org/officeDocument/2006/relationships/slide" Target="/ppt/slides/slide10.xml" Id="R6e44d7645ec549dd" /><Relationship Type="http://schemas.openxmlformats.org/officeDocument/2006/relationships/slide" Target="/ppt/slides/slide11.xml" Id="Ra28db30e480c4828" /><Relationship Type="http://schemas.openxmlformats.org/officeDocument/2006/relationships/slide" Target="/ppt/slides/slide12.xml" Id="R7a1de4b630ba4586" /><Relationship Type="http://schemas.openxmlformats.org/officeDocument/2006/relationships/slide" Target="/ppt/slides/slide13.xml" Id="R160a9e47a07a4e1d" /><Relationship Type="http://schemas.openxmlformats.org/officeDocument/2006/relationships/slide" Target="/ppt/slides/slide14.xml" Id="R7bfa8fb500574dc5" /><Relationship Type="http://schemas.openxmlformats.org/officeDocument/2006/relationships/slide" Target="/ppt/slides/slide15.xml" Id="R11e8a9a11a0f4d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663758f87640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a28f969c264b61" /><Relationship Type="http://schemas.openxmlformats.org/officeDocument/2006/relationships/notesMaster" Target="/ppt/notesMasters/notesMaster1.xml" Id="Rc48b749653db48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5d154f4896493f" /><Relationship Type="http://schemas.openxmlformats.org/officeDocument/2006/relationships/notesMaster" Target="/ppt/notesMasters/notesMaster1.xml" Id="R45381549cb7641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cbb9774ffd4610" /><Relationship Type="http://schemas.openxmlformats.org/officeDocument/2006/relationships/notesMaster" Target="/ppt/notesMasters/notesMaster1.xml" Id="Rb0409365add943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54d878dd004763" /><Relationship Type="http://schemas.openxmlformats.org/officeDocument/2006/relationships/notesMaster" Target="/ppt/notesMasters/notesMaster1.xml" Id="R1f3cdf9ea1bf4b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6a444fa60c401d" /><Relationship Type="http://schemas.openxmlformats.org/officeDocument/2006/relationships/notesMaster" Target="/ppt/notesMasters/notesMaster1.xml" Id="R07fe70d54e394a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fb8ff5994b437e" /><Relationship Type="http://schemas.openxmlformats.org/officeDocument/2006/relationships/notesMaster" Target="/ppt/notesMasters/notesMaster1.xml" Id="R731160b5e3c140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d3a6d0021843c3" /><Relationship Type="http://schemas.openxmlformats.org/officeDocument/2006/relationships/notesMaster" Target="/ppt/notesMasters/notesMaster1.xml" Id="Re4b892d06f3640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481d7950904617" /><Relationship Type="http://schemas.openxmlformats.org/officeDocument/2006/relationships/notesMaster" Target="/ppt/notesMasters/notesMaster1.xml" Id="R266d13c81dd64a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365c53d7154de7" /><Relationship Type="http://schemas.openxmlformats.org/officeDocument/2006/relationships/notesMaster" Target="/ppt/notesMasters/notesMaster1.xml" Id="R3aa541c6550443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11edb9846d4d69" /><Relationship Type="http://schemas.openxmlformats.org/officeDocument/2006/relationships/notesMaster" Target="/ppt/notesMasters/notesMaster1.xml" Id="Rd8911c08bc6f47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3dea75f8ab4ec9" /><Relationship Type="http://schemas.openxmlformats.org/officeDocument/2006/relationships/notesMaster" Target="/ppt/notesMasters/notesMaster1.xml" Id="Rbb5aa6918cb346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5c8900188649fd" /><Relationship Type="http://schemas.openxmlformats.org/officeDocument/2006/relationships/notesMaster" Target="/ppt/notesMasters/notesMaster1.xml" Id="R83d06639eed74e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2cfbd4f8af4a9e" /><Relationship Type="http://schemas.openxmlformats.org/officeDocument/2006/relationships/notesMaster" Target="/ppt/notesMasters/notesMaster1.xml" Id="Rfba16166d47540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928eb811ab4ba2" /><Relationship Type="http://schemas.openxmlformats.org/officeDocument/2006/relationships/notesMaster" Target="/ppt/notesMasters/notesMaster1.xml" Id="R6edc79752dcd44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de00a589d34c74" /><Relationship Type="http://schemas.openxmlformats.org/officeDocument/2006/relationships/notesMaster" Target="/ppt/notesMasters/notesMaster1.xml" Id="Red8c72841eba47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objective, not an achieved robustness claim. NIDS means Network Intrusion Detection System. The prototype combines a custom tabular Transformer, two-task class expansion, replay, label corruption, a frozen-teacher gate and confidence novelty. All objectives are evaluated separately. No pretrained model, deployment readiness or literature superiority is claimed. Current run status comes from the user, not a completed test artifact.</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https://github.com/DevChi1l/poison-resilient-continual-nids/blob/3cd90ac217c0842766b5849e2fc343a9a3d2c71f/PROJECT_CONTEXT.md</a:t>
            </a:r>
          </a:p>
          <a:p xmlns:a="http://schemas.openxmlformats.org/drawingml/2006/main">
            <a:r>
              <a:t>https://github.com/DevChi1l/poison-resilient-continual-nids/blob/3cd90ac217c0842766b5849e2fc343a9a3d2c71f/ARCHITECTURE.md</a:t>
            </a:r>
          </a:p>
          <a:p xmlns:a="http://schemas.openxmlformats.org/drawingml/2006/main">
            <a:r>
              <a:t>User update, 2026-10-03</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Parquet has 59 columns: 57 numeric features plus Label and ClassLabel. Both targets are excluded from features. The audited policy excludes Fwd Header Length, Bwd Header Length and Fwd Seg Size Min, leaving 54. Stable global IDs must match model probability columns. Do not attribute this collection to a particular CIC year without provenance. Counts and mapping are supported by the actual split_manifest.json inspected for this presentation and the repository audit.</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https://github.com/DevChi1l/poison-resilient-continual-nids/blob/3cd90ac217c0842766b5849e2fc343a9a3d2c71f/data/metadata/combined_flow_collection_audit.md</a:t>
            </a:r>
          </a:p>
          <a:p xmlns:a="http://schemas.openxmlformats.org/drawingml/2006/main">
            <a:r>
              <a:t>https://github.com/DevChi1l/poison-resilient-continual-nids/blob/3cd90ac217c0842766b5849e2fc343a9a3d2c71f/docs/preprocessing.md</a:t>
            </a:r>
          </a:p>
          <a:p xmlns:a="http://schemas.openxmlformats.org/drawingml/2006/main">
            <a:r>
              <a:t>https://github.com/DevChi1l/poison-resilient-continual-nids/blob/3cd90ac217c0842766b5849e2fc343a9a3d2c71f/src/data/sampling.py</a:t>
            </a:r>
          </a:p>
          <a:p xmlns:a="http://schemas.openxmlformats.org/drawingml/2006/main">
            <a:r>
              <a:t>Library: split_manifest.json, libfile_13bb368762dc819189be4379b7776490</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Negative and non-finite values become missing. Small-array preprocessing uses training medians, then training population means and scales after imputation. The full-data route approximates medians from a seeded 200,000-row reservoir, separately for static and continual scopes. Validation selects models or thresholds. Test is held for evaluation. Splits preserve row identity and exclude validation/test IDs from replay. Source provenance is absent, so a row split is not evidence of session isolation.</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https://github.com/DevChi1l/poison-resilient-continual-nids/blob/3cd90ac217c0842766b5849e2fc343a9a3d2c71f/src/data/preprocessing.py</a:t>
            </a:r>
          </a:p>
          <a:p xmlns:a="http://schemas.openxmlformats.org/drawingml/2006/main">
            <a:r>
              <a:t>https://github.com/DevChi1l/poison-resilient-continual-nids/blob/3cd90ac217c0842766b5849e2fc343a9a3d2c71f/src/data/splitting.py</a:t>
            </a:r>
          </a:p>
          <a:p xmlns:a="http://schemas.openxmlformats.org/drawingml/2006/main">
            <a:r>
              <a:t>https://github.com/DevChi1l/poison-resilient-continual-nids/blob/3cd90ac217c0842766b5849e2fc343a9a3d2c71f/src/continual_learning/tasks.py</a:t>
            </a:r>
          </a:p>
          <a:p xmlns:a="http://schemas.openxmlformats.org/drawingml/2006/main">
            <a:r>
              <a:t>https://github.com/DevChi1l/poison-resilient-continual-nids/blob/3cd90ac217c0842766b5849e2fc343a9a3d2c71f/ARCHITECTURE.md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tokenizes each scalar x_j as x_j*w_j+b_j, adds a learned CLS token and learned position embeddings, runs pre-norm Transformer encoder layers with GELU, then classifies the CLS representation through LayerNorm, dropout and a linear head. The compact run configuration is hidden64, four heads, two layers, MLP128. These are experiment overrides, not the larger ModelConfig defaults. Full clean training uses batch256, weight_decay 0.0001, seed42, mixed precision off, maximum20 epochs, patience5. The model is not pretrained.</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https://github.com/DevChi1l/poison-resilient-continual-nids/blob/3cd90ac217c0842766b5849e2fc343a9a3d2c71f/src/models/tabular_transformer.py</a:t>
            </a:r>
          </a:p>
          <a:p xmlns:a="http://schemas.openxmlformats.org/drawingml/2006/main">
            <a:r>
              <a:t>https://github.com/DevChi1l/poison-resilient-continual-nids/blob/3cd90ac217c0842766b5849e2fc343a9a3d2c71f/notebooks/kaggle_review2_full_clean_training.ipynb</a:t>
            </a:r>
          </a:p>
          <a:p xmlns:a="http://schemas.openxmlformats.org/drawingml/2006/main">
            <a:r>
              <a:t>https://github.com/DevChi1l/poison-resilient-continual-nids/blob/3cd90ac217c0842766b5849e2fc343a9a3d2c71f/HANDOFF.md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metrics (1).json inspected in this session reports accuracy 0.8833333333333333, macro-F1 0.878016638838182 and a Benign confusion row [132,4,9,1,0,138,6,10]. Thus false positives are 300-132=168, FPR=0.56 and recall=0.44. Best epoch17 and matched checkpoint reload are documented in the walkthrough. These are single-seed balanced-subset results, not natural-distribution full-data metrics. Source run 68135601a3ddd95832c57bb602f210f1a0e18a43.</a:t>
            </a:r>
          </a:p>
          <a:p xmlns:a="http://schemas.openxmlformats.org/drawingml/2006/main">
            <a:r>
              <a:t/>
            </a:r>
          </a:p>
          <a:p xmlns:a="http://schemas.openxmlformats.org/drawingml/2006/main">
            <a:r>
              <a:t>Evidence:</a:t>
            </a:r>
          </a:p>
          <a:p xmlns:a="http://schemas.openxmlformats.org/drawingml/2006/main">
            <a:r>
              <a:t>Library: metrics (1).json, libfile_7731a5816a288191a433e90db3e6b75c</a:t>
            </a:r>
          </a:p>
          <a:p xmlns:a="http://schemas.openxmlformats.org/drawingml/2006/main">
            <a:r>
              <a:t>https://github.com/DevChi1l/poison-resilient-continual-nids/blob/3cd90ac217c0842766b5849e2fc343a9a3d2c71f/docs/IMPLEMENTATION_WALKTHROUGH.md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Task1 includes Benign, DDoS, DoS, Botnet and Bruteforce. Task2 adds Infiltration, Webattack and Portscan. Expanded arms reload the same Task1 checkpoint and use the same expansion seed. A balanced stored memory means equal unique examples per old class; it does not mean balanced training draws. Sequential/replay used264/444 optimizer steps and8/12 epochs, so comparison is unequal-compute. Signed accuracy forgetting equals old accuracy before minus after on identical old test rows, with predictions into new classes counted as errors. Replay forgetting=28.60 percentage points. This initial continual result is supported by the repository audit record; the replay values also match the supplied test_summary.json. No new training was executed for this presentation.</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https://github.com/DevChi1l/poison-resilient-continual-nids/blob/3cd90ac217c0842766b5849e2fc343a9a3d2c71f/ARCHITECTURE.md</a:t>
            </a:r>
          </a:p>
          <a:p xmlns:a="http://schemas.openxmlformats.org/drawingml/2006/main">
            <a:r>
              <a:t>https://github.com/DevChi1l/poison-resilient-continual-nids/blob/3cd90ac217c0842766b5849e2fc343a9a3d2c71f/docs/IMPLEMENTATION_WALKTHROUGH.md</a:t>
            </a:r>
          </a:p>
          <a:p xmlns:a="http://schemas.openxmlformats.org/drawingml/2006/main">
            <a:r>
              <a:t>Library: test_summary.json, libfile_c9db4c3962088191916f0beb89925a25</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labels only are corrupted, features and clean validation/test labels stay fixed. Count=floor(rate*eligible_count+0.5), sampling without replacement. Random selects a different label from all eight classes. Targeted sources are attack IDs1–7, target0. Actual comparison.json inspected: random20 changed2240, targeted20 changed1960. Attack-to-Benign rate is measured on true attack test rows; its clean baseline is nonzero. Random10 accuracy0.88375 and targeted10 macro-F1 0.881780487 exceeded the corresponding clean value slightly, so poisoning does not uniformly worsen every metric. Same initial weights and seven reload checks are documented. Single seed and balanced data limit inference.</a:t>
            </a:r>
          </a:p>
          <a:p xmlns:a="http://schemas.openxmlformats.org/drawingml/2006/main">
            <a:r>
              <a:t/>
            </a:r>
          </a:p>
          <a:p xmlns:a="http://schemas.openxmlformats.org/drawingml/2006/main">
            <a:r>
              <a:t>Evidence:</a:t>
            </a:r>
          </a:p>
          <a:p xmlns:a="http://schemas.openxmlformats.org/drawingml/2006/main">
            <a:r>
              <a:t>Library: comparison.json, libfile_4789f80dd2a08191a306e71cc91abe5f</a:t>
            </a:r>
          </a:p>
          <a:p xmlns:a="http://schemas.openxmlformats.org/drawingml/2006/main">
            <a:r>
              <a:t>https://github.com/DevChi1l/poison-resilient-continual-nids/blob/3cd90ac217c0842766b5849e2fc343a9a3d2c71f/src/poisoning/label_flip.py</a:t>
            </a:r>
          </a:p>
          <a:p xmlns:a="http://schemas.openxmlformats.org/drawingml/2006/main">
            <a:r>
              <a:t>https://github.com/DevChi1l/poison-resilient-continual-nids/blob/3cd90ac217c0842766b5849e2fc343a9a3d2c71f/docs/POISONING_EXPERIMENTS.md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teacher is the clean five-class Task1 model trained from scratch. It filters old-class replay only, never new Task2 examples. Simulator truth is used afterward for audit, never for filtering or repairing labels. Random20 budget100/500 replay rows. Targeted20 budget80/400 eligible old attack rows,16% of total replay. Clean false rejection was4.4%; random4.75%; targeted4.2857%. Actual comparison(1).json was inspected. Combined test accuracy pairs are .7804167/.81375, .81625/.7858333, .81625/.8279167. Optimizer steps differ: clean444/444, random370/648, targeted444/504, so rejection and accuracy effects cannot be isolated from training work and changed memory size. This is a narrow label-consistency baseline, not a general poisoning/backdoor defense.</a:t>
            </a:r>
          </a:p>
          <a:p xmlns:a="http://schemas.openxmlformats.org/drawingml/2006/main">
            <a:r>
              <a:t/>
            </a:r>
          </a:p>
          <a:p xmlns:a="http://schemas.openxmlformats.org/drawingml/2006/main">
            <a:r>
              <a:t>Evidence:</a:t>
            </a:r>
          </a:p>
          <a:p xmlns:a="http://schemas.openxmlformats.org/drawingml/2006/main">
            <a:r>
              <a:t>Library: comparison(1).json, libfile_b104d53f0138819188e1c7f1c438afc0</a:t>
            </a:r>
          </a:p>
          <a:p xmlns:a="http://schemas.openxmlformats.org/drawingml/2006/main">
            <a:r>
              <a:t>https://github.com/DevChi1l/poison-resilient-continual-nids/blob/3cd90ac217c0842766b5849e2fc343a9a3d2c71f/src/mitigation/label_consistency.py</a:t>
            </a:r>
          </a:p>
          <a:p xmlns:a="http://schemas.openxmlformats.org/drawingml/2006/main">
            <a:r>
              <a:t>https://github.com/DevChi1l/poison-resilient-continual-nids/blob/3cd90ac217c0842766b5849e2fc343a9a3d2c71f/ARCHITECTURE.md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test_summary.json and strategy_selection.json inspected. Balanced inverse-frequency sampling uses replacement and one draw per combined row per epoch. Buffer size is unchanged; repeated exposure changes. Clean validation macro-F1 selected balanced:0.8529213667 vs0.7541214312, with no test or novelty data used for selection. Old test1500 rows, new test900, combined2400. Forgetting is before-minus-after old accuracy in percentage points; smaller is better here. This helps old retention but reduces new-class accuracy and still misclassifies61.67% of Benign examples. One seed, one balanced subset and unequal optimizer work preclude broad claims.</a:t>
            </a:r>
          </a:p>
          <a:p xmlns:a="http://schemas.openxmlformats.org/drawingml/2006/main">
            <a:r>
              <a:t/>
            </a:r>
          </a:p>
          <a:p xmlns:a="http://schemas.openxmlformats.org/drawingml/2006/main">
            <a:r>
              <a:t>Evidence:</a:t>
            </a:r>
          </a:p>
          <a:p xmlns:a="http://schemas.openxmlformats.org/drawingml/2006/main">
            <a:r>
              <a:t>Library: test_summary.json, libfile_c9db4c3962088191916f0beb89925a25</a:t>
            </a:r>
          </a:p>
          <a:p xmlns:a="http://schemas.openxmlformats.org/drawingml/2006/main">
            <a:r>
              <a:t>Library: strategy_selection.json, libfile_00ae204667208191a4c80308d92061e5</a:t>
            </a:r>
          </a:p>
          <a:p xmlns:a="http://schemas.openxmlformats.org/drawingml/2006/main">
            <a:r>
              <a:t>https://github.com/DevChi1l/poison-resilient-continual-nids/blob/3cd90ac217c0842766b5849e2fc343a9a3d2c71f/docs/IMPLEMENTATION_WALKTHROUGH.md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novelty.json inspected. Threshold0.9247980117797852 calibrated on1500 known validation rows only using the fifth percentile, frozen before Task2 evaluation. Task1 known test has1500 rows, Task2 unknown test900 rows, each unknown class300. True unknown flagged170, false known rejected68, unknown missed730. Recall170/900=.1888889; precision170/(170+68)=.7142857. This evaluation occurs before the head expands and before Task2 learning. Known false rejection is a novelty metric, distinct from Benign classification FPR. Equality to the cutoff counts as known. This is genuine held-out-class evidence of a weak confidence baseline, not broad novelty robustness.</a:t>
            </a:r>
          </a:p>
          <a:p xmlns:a="http://schemas.openxmlformats.org/drawingml/2006/main">
            <a:r>
              <a:t/>
            </a:r>
          </a:p>
          <a:p xmlns:a="http://schemas.openxmlformats.org/drawingml/2006/main">
            <a:r>
              <a:t>Evidence:</a:t>
            </a:r>
          </a:p>
          <a:p xmlns:a="http://schemas.openxmlformats.org/drawingml/2006/main">
            <a:r>
              <a:t>Library: novelty.json, libfile_eca6a60fca108191ae516c44adaec5e2</a:t>
            </a:r>
          </a:p>
          <a:p xmlns:a="http://schemas.openxmlformats.org/drawingml/2006/main">
            <a:r>
              <a:t>https://github.com/DevChi1l/poison-resilient-continual-nids/blob/3cd90ac217c0842766b5849e2fc343a9a3d2c71f/src/evaluation/novelty.py</a:t>
            </a:r>
          </a:p>
          <a:p xmlns:a="http://schemas.openxmlformats.org/drawingml/2006/main">
            <a:r>
              <a:t>https://github.com/DevChi1l/poison-resilient-continual-nids/blob/3cd90ac217c0842766b5849e2fc343a9a3d2c71f/ARCHITECTURE.md</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split_manifest.json and benchmark_results.json inspected, plus the repository preparation audit. Split totals sum to9,167,581. Preparation used seed42. Static moments use6,417,308 train rows and continual moments6,347,232 Task1 train rows. Medians are approximate. Raw feature store1,980,197,624 bytes and total persisted output about2.146GB are documented; actual large arrays are not available here for byte-level audit. The100,000-row benchmark measured22,196.07 rows/s at batch256;433.68seconds is a1.5x-headroom projection excluding validation, not measured full training time. User says full clean training is running again and reports epoch1 validation accuracy0.9741. That is progress only, not independently verified final performance. No training was launched by this task.</a:t>
            </a:r>
          </a:p>
          <a:p xmlns:a="http://schemas.openxmlformats.org/drawingml/2006/main">
            <a:r>
              <a:t/>
            </a:r>
          </a:p>
          <a:p xmlns:a="http://schemas.openxmlformats.org/drawingml/2006/main">
            <a:r>
              <a:t>Evidence:</a:t>
            </a:r>
          </a:p>
          <a:p xmlns:a="http://schemas.openxmlformats.org/drawingml/2006/main">
            <a:r>
              <a:t>Library: split_manifest.json, libfile_13bb368762dc819189be4379b7776490</a:t>
            </a:r>
          </a:p>
          <a:p xmlns:a="http://schemas.openxmlformats.org/drawingml/2006/main">
            <a:r>
              <a:t>Library: benchmark_results.json, libfile_2dc965b95efc8191a6d3196aef7f8aba</a:t>
            </a:r>
          </a:p>
          <a:p xmlns:a="http://schemas.openxmlformats.org/drawingml/2006/main">
            <a:r>
              <a:t>https://github.com/DevChi1l/poison-resilient-continual-nids/blob/3cd90ac217c0842766b5849e2fc343a9a3d2c71f/HANDOFF.md</a:t>
            </a:r>
          </a:p>
          <a:p xmlns:a="http://schemas.openxmlformats.org/drawingml/2006/main">
            <a:r>
              <a:t>User update, 2026-10-03</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reserved result areas, not zero-valued results or simulated curves. Learning curves should include train/validation loss against epoch and clearly label validation accuracy if shown. Confusion matrix must show true classes as rows and predicted classes as columns, fixed global order0–7, and explicitly identify counts or row-normalized percentages. The completed run should provide history.json, test_metrics.json, training_curves.png, confusion_matrix.png, final_manifest.json and reload_verification.json. Check source SHA, input identity and checkpoint selection before updating. The content file controls paths and captions.</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https://github.com/DevChi1l/poison-resilient-continual-nids/blob/3cd90ac217c0842766b5849e2fc343a9a3d2c71f/notebooks/kaggle_review2_full_clean_training.ipynb</a:t>
            </a:r>
          </a:p>
          <a:p xmlns:a="http://schemas.openxmlformats.org/drawingml/2006/main">
            <a:r>
              <a:t>User request: pending full-data result slots</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 editable table for the full clean test result. Populate precision, recall, F1 and support for all eight global class IDs only after complete test evaluation of the validation-selected checkpoint. Macro-F1, balanced accuracy and Benign FPR must accompany class-level interpretation. No zero values stand in for missing results. The generator can import per_class from test_metrics.json through content.json. Per-class metrics belong to the full clean test evaluation and must preserve precision, recall, F1 and support for all8 classes plus macro-F1, balanced accuracy and Benign FPR. Continual forgetting and poisoning comparisons require separate future runs using the prepared partitions; they are not outputs of the running clean static model. Forgetting uses identical old test rows before/after Task2 and signed percentage-point differences. Poisoning comparisons must state denominator, changed/eligible/total rows, target class, seeds, compute and paired filtered/unfiltered metrics. No values or charts have been fabricated in these pending slots.</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https://github.com/DevChi1l/poison-resilient-continual-nids/blob/3cd90ac217c0842766b5849e2fc343a9a3d2c71f/ARCHITECTURE.md</a:t>
            </a:r>
          </a:p>
          <a:p xmlns:a="http://schemas.openxmlformats.org/drawingml/2006/main">
            <a:r>
              <a:t>https://github.com/DevChi1l/poison-resilient-continual-nids/blob/3cd90ac217c0842766b5849e2fc343a9a3d2c71f/HANDOFF.md</a:t>
            </a:r>
          </a:p>
          <a:p xmlns:a="http://schemas.openxmlformats.org/drawingml/2006/main">
            <a:r>
              <a:t>User request: pending full-data result slots</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Per-class metrics belong to the full clean test evaluation and must preserve precision, recall, F1 and support for all8 classes plus macro-F1, balanced accuracy and Benign FPR. Continual forgetting and poisoning comparisons require separate future runs using the prepared partitions; they are not outputs of the running clean static model. Forgetting uses identical old test rows before/after Task2 and signed percentage-point differences. Poisoning comparisons must state denominator, changed/eligible/total rows, target class, seeds, compute and paired filtered/unfiltered metrics. No values or charts have been fabricated in these pending slots.</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https://github.com/DevChi1l/poison-resilient-continual-nids/blob/3cd90ac217c0842766b5849e2fc343a9a3d2c71f/ARCHITECTURE.md</a:t>
            </a:r>
          </a:p>
          <a:p xmlns:a="http://schemas.openxmlformats.org/drawingml/2006/main">
            <a:r>
              <a:t>https://github.com/DevChi1l/poison-resilient-continual-nids/blob/3cd90ac217c0842766b5849e2fc343a9a3d2c71f/HANDOFF.md</a:t>
            </a:r>
          </a:p>
          <a:p xmlns:a="http://schemas.openxmlformats.org/drawingml/2006/main">
            <a:r>
              <a:t>User request: pending full-data result slots</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local interface is planned, not implemented or built in this task. The one-command integration path is still incomplete. Proposed demo is offline inference on compatible precomputed flow features, with explicit feature order, saved preprocessing and class mapping. It should display confidence-baseline caveats and no deployment-readiness claim. Future priorities are verification of full clean test outputs, then separate full-data continual/replay and poisoning experiments; repeated seeds and provenance-aware splits would improve evidence. No team PDF, web interface or training job was created during presentation work.</a:t>
            </a:r>
          </a:p>
          <a:p xmlns:a="http://schemas.openxmlformats.org/drawingml/2006/main">
            <a:r>
              <a:t/>
            </a:r>
          </a:p>
          <a:p xmlns:a="http://schemas.openxmlformats.org/drawingml/2006/main">
            <a:r>
              <a:t>Evidence:</a:t>
            </a:r>
          </a:p>
          <a:p xmlns:a="http://schemas.openxmlformats.org/drawingml/2006/main">
            <a:r>
              <a:t>https://github.com/DevChi1l/poison-resilient-continual-nids/blob/3cd90ac217c0842766b5849e2fc343a9a3d2c71f/PROJECT_STATUS.md</a:t>
            </a:r>
          </a:p>
          <a:p xmlns:a="http://schemas.openxmlformats.org/drawingml/2006/main">
            <a:r>
              <a:t>https://github.com/DevChi1l/poison-resilient-continual-nids/blob/3cd90ac217c0842766b5849e2fc343a9a3d2c71f/REVIEW2_CHECKLIST.md</a:t>
            </a:r>
          </a:p>
          <a:p xmlns:a="http://schemas.openxmlformats.org/drawingml/2006/main">
            <a:r>
              <a:t>User scope, 2026-10-03</a:t>
            </a:r>
          </a:p>
          <a:p xmlns:a="http://schemas.openxmlformats.org/drawingml/2006/main">
            <a:r>
              <a:t/>
            </a:r>
          </a:p>
          <a:p xmlns:a="http://schemas.openxmlformats.org/drawingml/2006/main">
            <a:r>
              <a:t>Evidence base: 3cd90ac217c0842766b5849e2fc343a9a3d2c71f. Review date: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257f8bb1c147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2e46eae0434c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f014eba16544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37724dd07544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b7e9775e814b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3ed36590bf41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1B090E7-8888-49B9-962F-CB556252E12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F727597-F684-44F5-834A-02D77032C7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66ED5D8-2D0D-47FA-8E58-E5AC50BCCE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1264EE0-D888-4072-88F9-EB8CA88D5D5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1C6116F-6960-448F-BE85-F89D098761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3217112-C1DF-4B3C-B711-D64930CE2C8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6B7D449-D578-45CE-9208-DF6F7EC7E4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B2A4C4C-E858-40C8-8D4C-F4057C5D3B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92A7DD6-8144-441F-81CF-642FD2D5BCE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01BCFFC-F4C2-420C-9497-B9EEA90F56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F972845-BFE0-4DD4-B0B2-402A431050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05CB92F-81D3-4F6D-BECB-E36D5EB4F0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89A7756-37EE-44F3-B886-22AEBA901AF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311FFFB-B038-4D86-98FB-12E58178ED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2424C18-746D-4B5D-95AF-8598A0CC6B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3e76952bf04fe8" /><Relationship Type="http://schemas.openxmlformats.org/officeDocument/2006/relationships/slideLayout" Target="/ppt/slideLayouts/slideLayout1.xml" Id="Rb1432c190d234a61" /><Relationship Type="http://schemas.openxmlformats.org/officeDocument/2006/relationships/slideLayout" Target="/ppt/slideLayouts/slideLayout2.xml" Id="Rc15db8b78ed64282" /><Relationship Type="http://schemas.openxmlformats.org/officeDocument/2006/relationships/slideLayout" Target="/ppt/slideLayouts/slideLayout3.xml" Id="R4e32d0564324497e" /><Relationship Type="http://schemas.openxmlformats.org/officeDocument/2006/relationships/slideLayout" Target="/ppt/slideLayouts/slideLayout4.xml" Id="R8f5fe864b7904a25" /><Relationship Type="http://schemas.openxmlformats.org/officeDocument/2006/relationships/slideLayout" Target="/ppt/slideLayouts/slideLayout5.xml" Id="R4b6c9895e93244ee" /><Relationship Type="http://schemas.openxmlformats.org/officeDocument/2006/relationships/slideLayout" Target="/ppt/slideLayouts/slideLayout6.xml" Id="Ra1851347692443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432c190d234a61"/>
    <p:sldLayoutId xmlns:r="http://schemas.openxmlformats.org/officeDocument/2006/relationships" id="2147483650" r:id="Rc15db8b78ed64282"/>
    <p:sldLayoutId xmlns:r="http://schemas.openxmlformats.org/officeDocument/2006/relationships" id="2147483651" r:id="R4e32d0564324497e"/>
    <p:sldLayoutId xmlns:r="http://schemas.openxmlformats.org/officeDocument/2006/relationships" id="2147483652" r:id="R8f5fe864b7904a25"/>
    <p:sldLayoutId xmlns:r="http://schemas.openxmlformats.org/officeDocument/2006/relationships" id="2147483653" r:id="R4b6c9895e93244ee"/>
    <p:sldLayoutId xmlns:r="http://schemas.openxmlformats.org/officeDocument/2006/relationships" id="2147483654" r:id="Ra1851347692443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37c2dbcdd1498c" /><Relationship Type="http://schemas.openxmlformats.org/officeDocument/2006/relationships/notesSlide" Target="/ppt/notesSlides/notesSlide1.xml" Id="R0109d5c1f4ef43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f81a415d174c4c" /><Relationship Type="http://schemas.openxmlformats.org/officeDocument/2006/relationships/notesSlide" Target="/ppt/notesSlides/notesSlide2.xml" Id="R8cb0ec7661ed45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fd9c6ddd4f4d56" /><Relationship Type="http://schemas.openxmlformats.org/officeDocument/2006/relationships/notesSlide" Target="/ppt/notesSlides/notesSlide3.xml" Id="R73c28f6e8e3b40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3c240fe641408a" /><Relationship Type="http://schemas.openxmlformats.org/officeDocument/2006/relationships/notesSlide" Target="/ppt/notesSlides/notesSlide4.xml" Id="Rf5bfeb4ba4874e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237c68d64a4980" /><Relationship Type="http://schemas.openxmlformats.org/officeDocument/2006/relationships/notesSlide" Target="/ppt/notesSlides/notesSlide5.xml" Id="R3478036fc93644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056ff98d3e4af7" /><Relationship Type="http://schemas.openxmlformats.org/officeDocument/2006/relationships/notesSlide" Target="/ppt/notesSlides/notesSlide6.xml" Id="R909015d883934b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89ff1a7b994868" /><Relationship Type="http://schemas.openxmlformats.org/officeDocument/2006/relationships/notesSlide" Target="/ppt/notesSlides/notesSlide7.xml" Id="R0e776628006a45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8715b26f9c4c09" /><Relationship Type="http://schemas.openxmlformats.org/officeDocument/2006/relationships/notesSlide" Target="/ppt/notesSlides/notesSlide8.xml" Id="R4fb3752c121c41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fee23901774075" /><Relationship Type="http://schemas.openxmlformats.org/officeDocument/2006/relationships/notesSlide" Target="/ppt/notesSlides/notesSlide9.xml" Id="R612382b3f1bb43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a3f44f433b4903" /><Relationship Type="http://schemas.openxmlformats.org/officeDocument/2006/relationships/notesSlide" Target="/ppt/notesSlides/notesSlide10.xml" Id="R7614ec8893f545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366aa8c1f548ea" /><Relationship Type="http://schemas.openxmlformats.org/officeDocument/2006/relationships/notesSlide" Target="/ppt/notesSlides/notesSlide11.xml" Id="Rff0914c8afa146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9e23d5c8214241" /><Relationship Type="http://schemas.openxmlformats.org/officeDocument/2006/relationships/notesSlide" Target="/ppt/notesSlides/notesSlide12.xml" Id="Rab3c3a38913f40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493c303e8b3403d" /><Relationship Type="http://schemas.openxmlformats.org/officeDocument/2006/relationships/notesSlide" Target="/ppt/notesSlides/notesSlide13.xml" Id="R4cdf1d55b30448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5a28cf11a394dfb" /><Relationship Type="http://schemas.openxmlformats.org/officeDocument/2006/relationships/notesSlide" Target="/ppt/notesSlides/notesSlide14.xml" Id="R3ff21f2b73fa46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864a286c23c4191" /><Relationship Type="http://schemas.openxmlformats.org/officeDocument/2006/relationships/notesSlide" Target="/ppt/notesSlides/notesSlide15.xml" Id="R2b50fded673e44f2" /></Relationships>
</file>

<file path=ppt/slides/slide1.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10" name="FACULTY REVIEW · 03 OCT 2026">
            <a:extLst xmlns:a="http://schemas.openxmlformats.org/drawingml/2006/main">
              <a:ext uri="{FF2B5EF4-FFF2-40B4-BE49-F238E27FC236}">
                <a16:creationId xmlns:a16="http://schemas.microsoft.com/office/drawing/2014/main" id="{23161427-9B3F-463F-920D-25C5D7673069}"/>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2CCD0"/>
                </a:solidFill>
                <a:latin typeface="Aptos"/>
                <a:ea typeface="Aptos"/>
                <a:cs typeface="Aptos"/>
              </a:defRPr>
            </a:pPr>
            <a:r>
              <a:rPr sz="1350" b="1">
                <a:solidFill>
                  <a:srgbClr val="72CCD0"/>
                </a:solidFill>
                <a:latin typeface="Aptos"/>
                <a:ea typeface="Aptos"/>
                <a:cs typeface="Aptos"/>
              </a:rPr>
              <a:t>FACULTY REVIEW · 03 OCT 2026</a:t>
            </a:r>
          </a:p>
        </p:txBody>
      </p:sp>
      <p:sp>
        <p:nvSpPr>
          <p:cNvPr id="2" name="Poison-resilient&#10;continual NIDS">
            <a:extLst xmlns:a="http://schemas.openxmlformats.org/drawingml/2006/main">
              <a:ext uri="{FF2B5EF4-FFF2-40B4-BE49-F238E27FC236}">
                <a16:creationId xmlns:a16="http://schemas.microsoft.com/office/drawing/2014/main" id="{27D82C72-C99D-417F-93CF-B9611670D42F}"/>
              </a:ext>
            </a:extLst>
          </p:cNvPr>
          <p:cNvSpPr>
            <a:spLocks xmlns:a="http://schemas.openxmlformats.org/drawingml/2006/main" noGrp="1"/>
          </p:cNvSpPr>
          <p:nvPr/>
        </p:nvSpPr>
        <p:spPr>
          <a:xfrm xmlns:a="http://schemas.openxmlformats.org/drawingml/2006/main">
            <a:off x="609600" y="10096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Aptos"/>
                <a:ea typeface="Aptos"/>
                <a:cs typeface="Aptos"/>
              </a:defRPr>
            </a:pPr>
            <a:r>
              <a:rPr sz="5100" b="1">
                <a:solidFill>
                  <a:srgbClr val="FFFFFF"/>
                </a:solidFill>
                <a:latin typeface="Aptos"/>
                <a:ea typeface="Aptos"/>
                <a:cs typeface="Aptos"/>
              </a:rPr>
              <a:t>Poison-resilient</a:t>
            </a:r>
          </a:p>
          <a:p xmlns:a="http://schemas.openxmlformats.org/drawingml/2006/main">
            <a:pPr>
              <a:defRPr sz="5100" b="1">
                <a:solidFill>
                  <a:srgbClr val="FFFFFF"/>
                </a:solidFill>
                <a:latin typeface="Aptos"/>
                <a:ea typeface="Aptos"/>
                <a:cs typeface="Aptos"/>
              </a:defRPr>
            </a:pPr>
            <a:r>
              <a:rPr sz="5100" b="1">
                <a:solidFill>
                  <a:srgbClr val="FFFFFF"/>
                </a:solidFill>
                <a:latin typeface="Aptos"/>
                <a:ea typeface="Aptos"/>
                <a:cs typeface="Aptos"/>
              </a:rPr>
              <a:t>continual NIDS</a:t>
            </a:r>
          </a:p>
        </p:txBody>
      </p:sp>
      <p:sp>
        <p:nvSpPr>
          <p:cNvPr id="3" name="01">
            <a:extLst xmlns:a="http://schemas.openxmlformats.org/drawingml/2006/main">
              <a:ext uri="{FF2B5EF4-FFF2-40B4-BE49-F238E27FC236}">
                <a16:creationId xmlns:a16="http://schemas.microsoft.com/office/drawing/2014/main" id="{4D5B386A-12E9-4353-913B-61A424F7750A}"/>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7CF"/>
                </a:solidFill>
                <a:latin typeface="Aptos"/>
                <a:ea typeface="Aptos"/>
                <a:cs typeface="Aptos"/>
              </a:defRPr>
            </a:pPr>
            <a:r>
              <a:rPr sz="1350" b="0">
                <a:solidFill>
                  <a:srgbClr val="B4C7CF"/>
                </a:solidFill>
                <a:latin typeface="Aptos"/>
                <a:ea typeface="Aptos"/>
                <a:cs typeface="Aptos"/>
              </a:rPr>
              <a:t>01</a:t>
            </a:r>
          </a:p>
        </p:txBody>
      </p:sp>
      <p:sp>
        <p:nvSpPr>
          <p:cNvPr id="4" name="A tabular Transformer research prototype">
            <a:extLst xmlns:a="http://schemas.openxmlformats.org/drawingml/2006/main">
              <a:ext uri="{FF2B5EF4-FFF2-40B4-BE49-F238E27FC236}">
                <a16:creationId xmlns:a16="http://schemas.microsoft.com/office/drawing/2014/main" id="{1010F02C-DDC2-4E21-8882-DA9ABC28D259}"/>
              </a:ext>
            </a:extLst>
          </p:cNvPr>
          <p:cNvSpPr>
            <a:spLocks xmlns:a="http://schemas.openxmlformats.org/drawingml/2006/main" noGrp="1"/>
          </p:cNvSpPr>
          <p:nvPr/>
        </p:nvSpPr>
        <p:spPr>
          <a:xfrm xmlns:a="http://schemas.openxmlformats.org/drawingml/2006/main">
            <a:off x="647700" y="2952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9CDADD"/>
                </a:solidFill>
                <a:latin typeface="Aptos"/>
                <a:ea typeface="Aptos"/>
                <a:cs typeface="Aptos"/>
              </a:defRPr>
            </a:pPr>
            <a:r>
              <a:rPr sz="2400" b="0">
                <a:solidFill>
                  <a:srgbClr val="9CDADD"/>
                </a:solidFill>
                <a:latin typeface="Aptos"/>
                <a:ea typeface="Aptos"/>
                <a:cs typeface="Aptos"/>
              </a:rPr>
              <a:t>A tabular Transformer research prototype</a:t>
            </a:r>
          </a:p>
        </p:txBody>
      </p:sp>
      <p:sp>
        <p:nvSpPr>
          <p:cNvPr id="5" name="Can a model learn new attack classes, retain prior know">
            <a:extLst xmlns:a="http://schemas.openxmlformats.org/drawingml/2006/main">
              <a:ext uri="{FF2B5EF4-FFF2-40B4-BE49-F238E27FC236}">
                <a16:creationId xmlns:a16="http://schemas.microsoft.com/office/drawing/2014/main" id="{96E545D5-230B-4A9A-B712-469A520F6365}"/>
              </a:ext>
            </a:extLst>
          </p:cNvPr>
          <p:cNvSpPr>
            <a:spLocks xmlns:a="http://schemas.openxmlformats.org/drawingml/2006/main" noGrp="1"/>
          </p:cNvSpPr>
          <p:nvPr/>
        </p:nvSpPr>
        <p:spPr>
          <a:xfrm xmlns:a="http://schemas.openxmlformats.org/drawingml/2006/main">
            <a:off x="647700" y="3724275"/>
            <a:ext cx="1000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ptos"/>
                <a:ea typeface="Aptos"/>
                <a:cs typeface="Aptos"/>
              </a:defRPr>
            </a:pPr>
            <a:r>
              <a:rPr sz="2400" b="0">
                <a:solidFill>
                  <a:srgbClr val="FFFFFF"/>
                </a:solidFill>
                <a:latin typeface="Aptos"/>
                <a:ea typeface="Aptos"/>
                <a:cs typeface="Aptos"/>
              </a:rPr>
              <a:t>Can a model learn new attack classes, retain prior knowledge and tolerate corrupted update labels?</a:t>
            </a:r>
          </a:p>
        </p:txBody>
      </p:sp>
      <p:sp>
        <p:nvSpPr>
          <p:cNvPr id="6" name="Classify eight flow categories">
            <a:extLst xmlns:a="http://schemas.openxmlformats.org/drawingml/2006/main">
              <a:ext uri="{FF2B5EF4-FFF2-40B4-BE49-F238E27FC236}">
                <a16:creationId xmlns:a16="http://schemas.microsoft.com/office/drawing/2014/main" id="{7F754224-9076-41A3-A01E-74D6195F966C}"/>
              </a:ext>
            </a:extLst>
          </p:cNvPr>
          <p:cNvSpPr>
            <a:spLocks xmlns:a="http://schemas.openxmlformats.org/drawingml/2006/main" noGrp="1"/>
          </p:cNvSpPr>
          <p:nvPr/>
        </p:nvSpPr>
        <p:spPr>
          <a:xfrm xmlns:a="http://schemas.openxmlformats.org/drawingml/2006/main">
            <a:off x="647700" y="5143500"/>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8E8EC"/>
                </a:solidFill>
                <a:latin typeface="Aptos"/>
                <a:ea typeface="Aptos"/>
                <a:cs typeface="Aptos"/>
              </a:defRPr>
            </a:pPr>
            <a:r>
              <a:rPr sz="1875" b="0">
                <a:solidFill>
                  <a:srgbClr val="D8E8EC"/>
                </a:solidFill>
                <a:latin typeface="Aptos"/>
                <a:ea typeface="Aptos"/>
                <a:cs typeface="Aptos"/>
              </a:rPr>
              <a:t>Classify eight flow categories</a:t>
            </a:r>
          </a:p>
        </p:txBody>
      </p:sp>
      <p:sp>
        <p:nvSpPr>
          <p:cNvPr id="7" name="Measure retention and poisoning effects">
            <a:extLst xmlns:a="http://schemas.openxmlformats.org/drawingml/2006/main">
              <a:ext uri="{FF2B5EF4-FFF2-40B4-BE49-F238E27FC236}">
                <a16:creationId xmlns:a16="http://schemas.microsoft.com/office/drawing/2014/main" id="{C3B924DC-B158-40F7-BEEE-59C076C3AC73}"/>
              </a:ext>
            </a:extLst>
          </p:cNvPr>
          <p:cNvSpPr>
            <a:spLocks xmlns:a="http://schemas.openxmlformats.org/drawingml/2006/main" noGrp="1"/>
          </p:cNvSpPr>
          <p:nvPr/>
        </p:nvSpPr>
        <p:spPr>
          <a:xfrm xmlns:a="http://schemas.openxmlformats.org/drawingml/2006/main">
            <a:off x="4457700" y="5143500"/>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8E8EC"/>
                </a:solidFill>
                <a:latin typeface="Aptos"/>
                <a:ea typeface="Aptos"/>
                <a:cs typeface="Aptos"/>
              </a:defRPr>
            </a:pPr>
            <a:r>
              <a:rPr sz="1875" b="0">
                <a:solidFill>
                  <a:srgbClr val="D8E8EC"/>
                </a:solidFill>
                <a:latin typeface="Aptos"/>
                <a:ea typeface="Aptos"/>
                <a:cs typeface="Aptos"/>
              </a:rPr>
              <a:t>Measure retention and poisoning effects</a:t>
            </a:r>
          </a:p>
        </p:txBody>
      </p:sp>
      <p:sp>
        <p:nvSpPr>
          <p:cNvPr id="8" name="Evaluate a held-out novelty baseline">
            <a:extLst xmlns:a="http://schemas.openxmlformats.org/drawingml/2006/main">
              <a:ext uri="{FF2B5EF4-FFF2-40B4-BE49-F238E27FC236}">
                <a16:creationId xmlns:a16="http://schemas.microsoft.com/office/drawing/2014/main" id="{E16174D9-A3C8-45B3-9B0A-887F89EABB65}"/>
              </a:ext>
            </a:extLst>
          </p:cNvPr>
          <p:cNvSpPr>
            <a:spLocks xmlns:a="http://schemas.openxmlformats.org/drawingml/2006/main" noGrp="1"/>
          </p:cNvSpPr>
          <p:nvPr/>
        </p:nvSpPr>
        <p:spPr>
          <a:xfrm xmlns:a="http://schemas.openxmlformats.org/drawingml/2006/main">
            <a:off x="8267700" y="5143500"/>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8E8EC"/>
                </a:solidFill>
                <a:latin typeface="Aptos"/>
                <a:ea typeface="Aptos"/>
                <a:cs typeface="Aptos"/>
              </a:defRPr>
            </a:pPr>
            <a:r>
              <a:rPr sz="1875" b="0">
                <a:solidFill>
                  <a:srgbClr val="D8E8EC"/>
                </a:solidFill>
                <a:latin typeface="Aptos"/>
                <a:ea typeface="Aptos"/>
                <a:cs typeface="Aptos"/>
              </a:rPr>
              <a:t>Evaluate a held-out novelty baseline</a:t>
            </a:r>
          </a:p>
        </p:txBody>
      </p:sp>
      <p:sp>
        <p:nvSpPr>
          <p:cNvPr id="9" name="Bounded experiments completed. Full clean training in p">
            <a:extLst xmlns:a="http://schemas.openxmlformats.org/drawingml/2006/main">
              <a:ext uri="{FF2B5EF4-FFF2-40B4-BE49-F238E27FC236}">
                <a16:creationId xmlns:a16="http://schemas.microsoft.com/office/drawing/2014/main" id="{BF26019B-38A4-4FF1-9D96-B61C6C301312}"/>
              </a:ext>
            </a:extLst>
          </p:cNvPr>
          <p:cNvSpPr>
            <a:spLocks xmlns:a="http://schemas.openxmlformats.org/drawingml/2006/main" noGrp="1"/>
          </p:cNvSpPr>
          <p:nvPr/>
        </p:nvSpPr>
        <p:spPr>
          <a:xfrm xmlns:a="http://schemas.openxmlformats.org/drawingml/2006/main">
            <a:off x="647700" y="63341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4C7CF"/>
                </a:solidFill>
                <a:latin typeface="Aptos"/>
                <a:ea typeface="Aptos"/>
                <a:cs typeface="Aptos"/>
              </a:defRPr>
            </a:pPr>
            <a:r>
              <a:rPr sz="1500" b="0">
                <a:solidFill>
                  <a:srgbClr val="B4C7CF"/>
                </a:solidFill>
                <a:latin typeface="Aptos"/>
                <a:ea typeface="Aptos"/>
                <a:cs typeface="Aptos"/>
              </a:rPr>
              <a:t>Bounded experiments completed. Full clean training in progress.</a:t>
            </a:r>
          </a:p>
        </p:txBody>
      </p:sp>
    </p:spTree>
    <p:extLst>
      <p:ext uri="{BB962C8B-B14F-4D97-AF65-F5344CB8AC3E}">
        <p14:creationId xmlns:p14="http://schemas.microsoft.com/office/powerpoint/2010/main" val="1010045878"/>
      </p:ext>
    </p:extLst>
  </p:cSld>
</p:sld>
</file>

<file path=ppt/slides/slide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8" name="IMPLEMENTED · AUDITED COLLECTION">
            <a:extLst xmlns:a="http://schemas.openxmlformats.org/drawingml/2006/main">
              <a:ext uri="{FF2B5EF4-FFF2-40B4-BE49-F238E27FC236}">
                <a16:creationId xmlns:a16="http://schemas.microsoft.com/office/drawing/2014/main" id="{359EC71E-CD9F-41B5-9DD8-419C6DDCA7F7}"/>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IMPLEMENTED · AUDITED COLLECTION</a:t>
            </a:r>
          </a:p>
        </p:txBody>
      </p:sp>
      <p:sp>
        <p:nvSpPr>
          <p:cNvPr id="2" name="Dataset and eight-class target">
            <a:extLst xmlns:a="http://schemas.openxmlformats.org/drawingml/2006/main">
              <a:ext uri="{FF2B5EF4-FFF2-40B4-BE49-F238E27FC236}">
                <a16:creationId xmlns:a16="http://schemas.microsoft.com/office/drawing/2014/main" id="{7F78DB99-44CE-4E35-A33E-4E04F23BCAC7}"/>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Dataset and eight-class target</a:t>
            </a:r>
          </a:p>
        </p:txBody>
      </p:sp>
      <p:sp>
        <p:nvSpPr>
          <p:cNvPr id="3" name="02">
            <a:extLst xmlns:a="http://schemas.openxmlformats.org/drawingml/2006/main">
              <a:ext uri="{FF2B5EF4-FFF2-40B4-BE49-F238E27FC236}">
                <a16:creationId xmlns:a16="http://schemas.microsoft.com/office/drawing/2014/main" id="{C9934822-5871-4F81-9AB8-CD1C2DD1EB43}"/>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02</a:t>
            </a:r>
          </a:p>
        </p:txBody>
      </p:sp>
      <p:sp>
        <p:nvSpPr>
          <p:cNvPr id="4" name="9,167,581 flow rows">
            <a:extLst xmlns:a="http://schemas.openxmlformats.org/drawingml/2006/main">
              <a:ext uri="{FF2B5EF4-FFF2-40B4-BE49-F238E27FC236}">
                <a16:creationId xmlns:a16="http://schemas.microsoft.com/office/drawing/2014/main" id="{000F79F4-B650-45E3-BEA4-FC526240B2BC}"/>
              </a:ext>
            </a:extLst>
          </p:cNvPr>
          <p:cNvSpPr>
            <a:spLocks xmlns:a="http://schemas.openxmlformats.org/drawingml/2006/main" noGrp="1"/>
          </p:cNvSpPr>
          <p:nvPr/>
        </p:nvSpPr>
        <p:spPr>
          <a:xfrm xmlns:a="http://schemas.openxmlformats.org/drawingml/2006/main">
            <a:off x="609600" y="20574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06D77"/>
                </a:solidFill>
                <a:latin typeface="Aptos"/>
                <a:ea typeface="Aptos"/>
                <a:cs typeface="Aptos"/>
              </a:defRPr>
            </a:pPr>
            <a:r>
              <a:rPr sz="3450" b="1">
                <a:solidFill>
                  <a:srgbClr val="006D77"/>
                </a:solidFill>
                <a:latin typeface="Aptos"/>
                <a:ea typeface="Aptos"/>
                <a:cs typeface="Aptos"/>
              </a:rPr>
              <a:t>9,167,581 flow rows</a:t>
            </a:r>
          </a:p>
        </p:txBody>
      </p:sp>
      <p:sp>
        <p:nvSpPr>
          <p:cNvPr id="5" name="57 numeric inputs → 54 retained features&#10;33 fine labels">
            <a:extLst xmlns:a="http://schemas.openxmlformats.org/drawingml/2006/main">
              <a:ext uri="{FF2B5EF4-FFF2-40B4-BE49-F238E27FC236}">
                <a16:creationId xmlns:a16="http://schemas.microsoft.com/office/drawing/2014/main" id="{D269D48B-8796-4FE4-A14E-817BB33A2B22}"/>
              </a:ext>
            </a:extLst>
          </p:cNvPr>
          <p:cNvSpPr>
            <a:spLocks xmlns:a="http://schemas.openxmlformats.org/drawingml/2006/main" noGrp="1"/>
          </p:cNvSpPr>
          <p:nvPr/>
        </p:nvSpPr>
        <p:spPr>
          <a:xfrm xmlns:a="http://schemas.openxmlformats.org/drawingml/2006/main">
            <a:off x="609600" y="3086100"/>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13E"/>
                </a:solidFill>
                <a:latin typeface="Aptos"/>
                <a:ea typeface="Aptos"/>
                <a:cs typeface="Aptos"/>
              </a:defRPr>
            </a:pPr>
            <a:r>
              <a:rPr sz="2250" b="0">
                <a:solidFill>
                  <a:srgbClr val="16313E"/>
                </a:solidFill>
                <a:latin typeface="Aptos"/>
                <a:ea typeface="Aptos"/>
                <a:cs typeface="Aptos"/>
              </a:rPr>
              <a:t>57 numeric inputs → 54 retained features</a:t>
            </a:r>
          </a:p>
          <a:p xmlns:a="http://schemas.openxmlformats.org/drawingml/2006/main">
            <a:pPr>
              <a:defRPr sz="2250" b="0">
                <a:solidFill>
                  <a:srgbClr val="16313E"/>
                </a:solidFill>
                <a:latin typeface="Aptos"/>
                <a:ea typeface="Aptos"/>
                <a:cs typeface="Aptos"/>
              </a:defRPr>
            </a:pPr>
            <a:r>
              <a:rPr sz="2250" b="0">
                <a:solidFill>
                  <a:srgbClr val="16313E"/>
                </a:solidFill>
                <a:latin typeface="Aptos"/>
                <a:ea typeface="Aptos"/>
                <a:cs typeface="Aptos"/>
              </a:rPr>
              <a:t>33 fine labels → 8 broad ClassLabel categories</a:t>
            </a:r>
          </a:p>
        </p:txBody>
      </p:sp>
      <p:sp>
        <p:nvSpPr>
          <p:cNvPr id="6" name="Combined flow collection&#10;Per-row source provenance is u">
            <a:extLst xmlns:a="http://schemas.openxmlformats.org/drawingml/2006/main">
              <a:ext uri="{FF2B5EF4-FFF2-40B4-BE49-F238E27FC236}">
                <a16:creationId xmlns:a16="http://schemas.microsoft.com/office/drawing/2014/main" id="{A182855C-1DA3-4E4B-993E-46F809BD656B}"/>
              </a:ext>
            </a:extLst>
          </p:cNvPr>
          <p:cNvSpPr>
            <a:spLocks xmlns:a="http://schemas.openxmlformats.org/drawingml/2006/main" noGrp="1"/>
          </p:cNvSpPr>
          <p:nvPr/>
        </p:nvSpPr>
        <p:spPr>
          <a:xfrm xmlns:a="http://schemas.openxmlformats.org/drawingml/2006/main">
            <a:off x="609600" y="495300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4442D"/>
                </a:solidFill>
                <a:latin typeface="Aptos"/>
                <a:ea typeface="Aptos"/>
                <a:cs typeface="Aptos"/>
              </a:defRPr>
            </a:pPr>
            <a:r>
              <a:rPr sz="1950" b="1">
                <a:solidFill>
                  <a:srgbClr val="A4442D"/>
                </a:solidFill>
                <a:latin typeface="Aptos"/>
                <a:ea typeface="Aptos"/>
                <a:cs typeface="Aptos"/>
              </a:rPr>
              <a:t>Combined flow collection</a:t>
            </a:r>
          </a:p>
          <a:p xmlns:a="http://schemas.openxmlformats.org/drawingml/2006/main">
            <a:pPr>
              <a:defRPr sz="1950" b="1">
                <a:solidFill>
                  <a:srgbClr val="A4442D"/>
                </a:solidFill>
                <a:latin typeface="Aptos"/>
                <a:ea typeface="Aptos"/>
                <a:cs typeface="Aptos"/>
              </a:defRPr>
            </a:pPr>
            <a:r>
              <a:rPr sz="1950" b="1">
                <a:solidFill>
                  <a:srgbClr val="A4442D"/>
                </a:solidFill>
                <a:latin typeface="Aptos"/>
                <a:ea typeface="Aptos"/>
                <a:cs typeface="Aptos"/>
              </a:rPr>
              <a:t>Per-row source provenance is unavailable.</a:t>
            </a:r>
          </a:p>
        </p:txBody>
      </p:sp>
      <p:graphicFrame>
        <p:nvGraphicFramePr>
          <p:cNvPr id="14" name=""/>
          <p:cNvGraphicFramePr/>
          <p:nvPr/>
        </p:nvGraphicFramePr>
        <p:xfrm>
          <a:off xmlns:a="http://schemas.openxmlformats.org/drawingml/2006/main" x="6534150" y="1781175"/>
          <a:ext xmlns:a="http://schemas.openxmlformats.org/drawingml/2006/main" cx="5048250" cy="4171950"/>
        </p:xfrm>
        <a:graphic xmlns:a="http://schemas.openxmlformats.org/drawingml/2006/main">
          <a:graphicData uri="http://schemas.openxmlformats.org/drawingml/2006/table">
            <a:tbl>
              <a:tblPr/>
              <a:tblGrid>
                <a:gridCol w="666750"/>
                <a:gridCol w="2857500"/>
                <a:gridCol w="1524000"/>
              </a:tblGrid>
              <a:tr h="463550">
                <a:tc>
                  <a:txBody>
                    <a:bodyPr>
                      <a:noAutofit/>
                    </a:bodyPr>
                    <a:lstStyle/>
                    <a:p>
                      <a:r>
                        <a:rPr sz="1800" b="1">
                          <a:solidFill>
                            <a:srgbClr val="FFFFFF"/>
                          </a:solidFill>
                          <a:latin typeface="Aptos"/>
                          <a:ea typeface="Aptos"/>
                          <a:cs typeface="Aptos"/>
                        </a:rPr>
                        <a:t>ID</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Class</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Task</a:t>
                      </a:r>
                    </a:p>
                  </a:txBody>
                  <a:tcPr marL="91440" marR="91440" marT="45720" marB="45720">
                    <a:solidFill>
                      <a:srgbClr val="142D3B"/>
                    </a:solidFill>
                  </a:tcPr>
                </a:tc>
              </a:tr>
              <a:tr h="463550">
                <a:tc>
                  <a:txBody>
                    <a:bodyPr>
                      <a:noAutofit/>
                    </a:bodyPr>
                    <a:lstStyle/>
                    <a:p>
                      <a:r>
                        <a:rPr sz="1800" b="1">
                          <a:solidFill>
                            <a:srgbClr val="16313E"/>
                          </a:solidFill>
                          <a:latin typeface="Aptos"/>
                          <a:ea typeface="Aptos"/>
                          <a:cs typeface="Aptos"/>
                        </a:rPr>
                        <a:t>0</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Benign</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Task 1</a:t>
                      </a:r>
                    </a:p>
                  </a:txBody>
                  <a:tcPr marL="91440" marR="91440" marT="45720" marB="45720">
                    <a:solidFill>
                      <a:srgbClr val="FFFFFF"/>
                    </a:solidFill>
                  </a:tcPr>
                </a:tc>
              </a:tr>
              <a:tr h="463550">
                <a:tc>
                  <a:txBody>
                    <a:bodyPr>
                      <a:noAutofit/>
                    </a:bodyPr>
                    <a:lstStyle/>
                    <a:p>
                      <a:r>
                        <a:rPr sz="1800" b="1">
                          <a:solidFill>
                            <a:srgbClr val="16313E"/>
                          </a:solidFill>
                          <a:latin typeface="Aptos"/>
                          <a:ea typeface="Aptos"/>
                          <a:cs typeface="Aptos"/>
                        </a:rPr>
                        <a:t>1</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DDoS</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Task 1</a:t>
                      </a:r>
                    </a:p>
                  </a:txBody>
                  <a:tcPr marL="91440" marR="91440" marT="45720" marB="45720">
                    <a:solidFill>
                      <a:srgbClr val="EDF2F3"/>
                    </a:solidFill>
                  </a:tcPr>
                </a:tc>
              </a:tr>
              <a:tr h="463550">
                <a:tc>
                  <a:txBody>
                    <a:bodyPr>
                      <a:noAutofit/>
                    </a:bodyPr>
                    <a:lstStyle/>
                    <a:p>
                      <a:r>
                        <a:rPr sz="1800" b="1">
                          <a:solidFill>
                            <a:srgbClr val="16313E"/>
                          </a:solidFill>
                          <a:latin typeface="Aptos"/>
                          <a:ea typeface="Aptos"/>
                          <a:cs typeface="Aptos"/>
                        </a:rPr>
                        <a:t>2</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DoS</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Task 1</a:t>
                      </a:r>
                    </a:p>
                  </a:txBody>
                  <a:tcPr marL="91440" marR="91440" marT="45720" marB="45720">
                    <a:solidFill>
                      <a:srgbClr val="FFFFFF"/>
                    </a:solidFill>
                  </a:tcPr>
                </a:tc>
              </a:tr>
              <a:tr h="463550">
                <a:tc>
                  <a:txBody>
                    <a:bodyPr>
                      <a:noAutofit/>
                    </a:bodyPr>
                    <a:lstStyle/>
                    <a:p>
                      <a:r>
                        <a:rPr sz="1800" b="1">
                          <a:solidFill>
                            <a:srgbClr val="16313E"/>
                          </a:solidFill>
                          <a:latin typeface="Aptos"/>
                          <a:ea typeface="Aptos"/>
                          <a:cs typeface="Aptos"/>
                        </a:rPr>
                        <a:t>3</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Botnet</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Task 1</a:t>
                      </a:r>
                    </a:p>
                  </a:txBody>
                  <a:tcPr marL="91440" marR="91440" marT="45720" marB="45720">
                    <a:solidFill>
                      <a:srgbClr val="EDF2F3"/>
                    </a:solidFill>
                  </a:tcPr>
                </a:tc>
              </a:tr>
              <a:tr h="463550">
                <a:tc>
                  <a:txBody>
                    <a:bodyPr>
                      <a:noAutofit/>
                    </a:bodyPr>
                    <a:lstStyle/>
                    <a:p>
                      <a:r>
                        <a:rPr sz="1800" b="1">
                          <a:solidFill>
                            <a:srgbClr val="16313E"/>
                          </a:solidFill>
                          <a:latin typeface="Aptos"/>
                          <a:ea typeface="Aptos"/>
                          <a:cs typeface="Aptos"/>
                        </a:rPr>
                        <a:t>4</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Bruteforce</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Task 1</a:t>
                      </a:r>
                    </a:p>
                  </a:txBody>
                  <a:tcPr marL="91440" marR="91440" marT="45720" marB="45720">
                    <a:solidFill>
                      <a:srgbClr val="FFFFFF"/>
                    </a:solidFill>
                  </a:tcPr>
                </a:tc>
              </a:tr>
              <a:tr h="463550">
                <a:tc>
                  <a:txBody>
                    <a:bodyPr>
                      <a:noAutofit/>
                    </a:bodyPr>
                    <a:lstStyle/>
                    <a:p>
                      <a:r>
                        <a:rPr sz="1800" b="1">
                          <a:solidFill>
                            <a:srgbClr val="16313E"/>
                          </a:solidFill>
                          <a:latin typeface="Aptos"/>
                          <a:ea typeface="Aptos"/>
                          <a:cs typeface="Aptos"/>
                        </a:rPr>
                        <a:t>5</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Infiltration</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Task 2</a:t>
                      </a:r>
                    </a:p>
                  </a:txBody>
                  <a:tcPr marL="91440" marR="91440" marT="45720" marB="45720">
                    <a:solidFill>
                      <a:srgbClr val="EDF2F3"/>
                    </a:solidFill>
                  </a:tcPr>
                </a:tc>
              </a:tr>
              <a:tr h="463550">
                <a:tc>
                  <a:txBody>
                    <a:bodyPr>
                      <a:noAutofit/>
                    </a:bodyPr>
                    <a:lstStyle/>
                    <a:p>
                      <a:r>
                        <a:rPr sz="1800" b="1">
                          <a:solidFill>
                            <a:srgbClr val="16313E"/>
                          </a:solidFill>
                          <a:latin typeface="Aptos"/>
                          <a:ea typeface="Aptos"/>
                          <a:cs typeface="Aptos"/>
                        </a:rPr>
                        <a:t>6</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Webattack</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Task 2</a:t>
                      </a:r>
                    </a:p>
                  </a:txBody>
                  <a:tcPr marL="91440" marR="91440" marT="45720" marB="45720">
                    <a:solidFill>
                      <a:srgbClr val="FFFFFF"/>
                    </a:solidFill>
                  </a:tcPr>
                </a:tc>
              </a:tr>
              <a:tr h="463550">
                <a:tc>
                  <a:txBody>
                    <a:bodyPr>
                      <a:noAutofit/>
                    </a:bodyPr>
                    <a:lstStyle/>
                    <a:p>
                      <a:r>
                        <a:rPr sz="1800" b="1">
                          <a:solidFill>
                            <a:srgbClr val="16313E"/>
                          </a:solidFill>
                          <a:latin typeface="Aptos"/>
                          <a:ea typeface="Aptos"/>
                          <a:cs typeface="Aptos"/>
                        </a:rPr>
                        <a:t>7</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Portscan</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Task 2</a:t>
                      </a:r>
                    </a:p>
                  </a:txBody>
                  <a:tcPr marL="91440" marR="91440" marT="45720" marB="45720">
                    <a:solidFill>
                      <a:srgbClr val="EDF2F3"/>
                    </a:solidFill>
                  </a:tcPr>
                </a:tc>
              </a:tr>
            </a:tbl>
          </a:graphicData>
        </a:graphic>
      </p:graphicFrame>
    </p:spTree>
    <p:extLst>
      <p:ext uri="{BB962C8B-B14F-4D97-AF65-F5344CB8AC3E}">
        <p14:creationId xmlns:p14="http://schemas.microsoft.com/office/powerpoint/2010/main" val="1049554724"/>
      </p:ext>
    </p:extLst>
  </p:cSld>
</p:sld>
</file>

<file path=ppt/slides/slide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0" name="IMPLEMENTED · EXECUTED ON BOUNDED DATA">
            <a:extLst xmlns:a="http://schemas.openxmlformats.org/drawingml/2006/main">
              <a:ext uri="{FF2B5EF4-FFF2-40B4-BE49-F238E27FC236}">
                <a16:creationId xmlns:a16="http://schemas.microsoft.com/office/drawing/2014/main" id="{96DAABD1-3747-4045-9CBC-6E3095D439CF}"/>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IMPLEMENTED · EXECUTED ON BOUNDED DATA</a:t>
            </a:r>
          </a:p>
        </p:txBody>
      </p:sp>
      <p:sp>
        <p:nvSpPr>
          <p:cNvPr id="2" name="Train-only preprocessing and split protocol">
            <a:extLst xmlns:a="http://schemas.openxmlformats.org/drawingml/2006/main">
              <a:ext uri="{FF2B5EF4-FFF2-40B4-BE49-F238E27FC236}">
                <a16:creationId xmlns:a16="http://schemas.microsoft.com/office/drawing/2014/main" id="{DF7CF430-B91D-4D6C-85F9-325C3D47240C}"/>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Train-only preprocessing and split protocol</a:t>
            </a:r>
          </a:p>
        </p:txBody>
      </p:sp>
      <p:sp>
        <p:nvSpPr>
          <p:cNvPr id="3" name="03">
            <a:extLst xmlns:a="http://schemas.openxmlformats.org/drawingml/2006/main">
              <a:ext uri="{FF2B5EF4-FFF2-40B4-BE49-F238E27FC236}">
                <a16:creationId xmlns:a16="http://schemas.microsoft.com/office/drawing/2014/main" id="{798BD413-760B-4E93-BCF0-7EAE63221773}"/>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B6AB4935-3383-415F-8BD8-0A8AE9DA8730}"/>
              </a:ext>
            </a:extLst>
          </p:cNvPr>
          <p:cNvSpPr>
            <a:spLocks xmlns:a="http://schemas.openxmlformats.org/drawingml/2006/main" noGrp="1"/>
          </p:cNvSpPr>
          <p:nvPr/>
        </p:nvSpPr>
        <p:spPr>
          <a:xfrm xmlns:a="http://schemas.openxmlformats.org/drawingml/2006/main">
            <a:off x="609600" y="1809750"/>
            <a:ext cx="3492500" cy="1285875"/>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5" name="Split first">
            <a:extLst xmlns:a="http://schemas.openxmlformats.org/drawingml/2006/main">
              <a:ext uri="{FF2B5EF4-FFF2-40B4-BE49-F238E27FC236}">
                <a16:creationId xmlns:a16="http://schemas.microsoft.com/office/drawing/2014/main" id="{CF5FC5B2-E096-4DAB-AD4B-0C84E1EFFF31}"/>
              </a:ext>
            </a:extLst>
          </p:cNvPr>
          <p:cNvSpPr>
            <a:spLocks xmlns:a="http://schemas.openxmlformats.org/drawingml/2006/main" noGrp="1"/>
          </p:cNvSpPr>
          <p:nvPr/>
        </p:nvSpPr>
        <p:spPr>
          <a:xfrm xmlns:a="http://schemas.openxmlformats.org/drawingml/2006/main">
            <a:off x="771525" y="1962150"/>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Split first</a:t>
            </a:r>
          </a:p>
        </p:txBody>
      </p:sp>
      <p:sp>
        <p:nvSpPr>
          <p:cNvPr id="6" name="Stratified 70 / 15 / 15&#10;Seed 42, original row IDs">
            <a:extLst xmlns:a="http://schemas.openxmlformats.org/drawingml/2006/main">
              <a:ext uri="{FF2B5EF4-FFF2-40B4-BE49-F238E27FC236}">
                <a16:creationId xmlns:a16="http://schemas.microsoft.com/office/drawing/2014/main" id="{3C6BC780-B29A-4AE6-AF94-E4EDC5F41972}"/>
              </a:ext>
            </a:extLst>
          </p:cNvPr>
          <p:cNvSpPr>
            <a:spLocks xmlns:a="http://schemas.openxmlformats.org/drawingml/2006/main" noGrp="1"/>
          </p:cNvSpPr>
          <p:nvPr/>
        </p:nvSpPr>
        <p:spPr>
          <a:xfrm xmlns:a="http://schemas.openxmlformats.org/drawingml/2006/main">
            <a:off x="771525" y="2400300"/>
            <a:ext cx="3187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Stratified 70 / 15 / 15</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Seed 42, original row IDs</a:t>
            </a:r>
          </a:p>
        </p:txBody>
      </p:sp>
      <p:sp>
        <p:nvSpPr>
          <p:cNvPr id="7" name="">
            <a:extLst xmlns:a="http://schemas.openxmlformats.org/drawingml/2006/main">
              <a:ext uri="{FF2B5EF4-FFF2-40B4-BE49-F238E27FC236}">
                <a16:creationId xmlns:a16="http://schemas.microsoft.com/office/drawing/2014/main" id="{C30912C7-F0E9-4B72-B69D-F830AE539B29}"/>
              </a:ext>
            </a:extLst>
          </p:cNvPr>
          <p:cNvSpPr>
            <a:spLocks xmlns:a="http://schemas.openxmlformats.org/drawingml/2006/main" noGrp="1"/>
          </p:cNvSpPr>
          <p:nvPr/>
        </p:nvSpPr>
        <p:spPr>
          <a:xfrm xmlns:a="http://schemas.openxmlformats.org/drawingml/2006/main">
            <a:off x="4140200" y="2386013"/>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664EA2-8630-4C9A-96D9-DF0A1BE51D94}"/>
              </a:ext>
            </a:extLst>
          </p:cNvPr>
          <p:cNvSpPr>
            <a:spLocks xmlns:a="http://schemas.openxmlformats.org/drawingml/2006/main" noGrp="1"/>
          </p:cNvSpPr>
          <p:nvPr/>
        </p:nvSpPr>
        <p:spPr>
          <a:xfrm xmlns:a="http://schemas.openxmlformats.org/drawingml/2006/main">
            <a:off x="4349750" y="1809750"/>
            <a:ext cx="3492500" cy="1285875"/>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9" name="Fit on training">
            <a:extLst xmlns:a="http://schemas.openxmlformats.org/drawingml/2006/main">
              <a:ext uri="{FF2B5EF4-FFF2-40B4-BE49-F238E27FC236}">
                <a16:creationId xmlns:a16="http://schemas.microsoft.com/office/drawing/2014/main" id="{6DB856C1-5882-436C-81F3-F4E4EFD79E39}"/>
              </a:ext>
            </a:extLst>
          </p:cNvPr>
          <p:cNvSpPr>
            <a:spLocks xmlns:a="http://schemas.openxmlformats.org/drawingml/2006/main" noGrp="1"/>
          </p:cNvSpPr>
          <p:nvPr/>
        </p:nvSpPr>
        <p:spPr>
          <a:xfrm xmlns:a="http://schemas.openxmlformats.org/drawingml/2006/main">
            <a:off x="4511675" y="1962150"/>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Fit on training</a:t>
            </a:r>
          </a:p>
        </p:txBody>
      </p:sp>
      <p:sp>
        <p:nvSpPr>
          <p:cNvPr id="10" name="Invalid values → missing&#10;Median fill, standardize">
            <a:extLst xmlns:a="http://schemas.openxmlformats.org/drawingml/2006/main">
              <a:ext uri="{FF2B5EF4-FFF2-40B4-BE49-F238E27FC236}">
                <a16:creationId xmlns:a16="http://schemas.microsoft.com/office/drawing/2014/main" id="{F12CD0B7-EBF0-437B-B4C2-02661AD71E21}"/>
              </a:ext>
            </a:extLst>
          </p:cNvPr>
          <p:cNvSpPr>
            <a:spLocks xmlns:a="http://schemas.openxmlformats.org/drawingml/2006/main" noGrp="1"/>
          </p:cNvSpPr>
          <p:nvPr/>
        </p:nvSpPr>
        <p:spPr>
          <a:xfrm xmlns:a="http://schemas.openxmlformats.org/drawingml/2006/main">
            <a:off x="4511675" y="2400300"/>
            <a:ext cx="3187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Invalid values → missing</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Median fill, standardize</a:t>
            </a:r>
          </a:p>
        </p:txBody>
      </p:sp>
      <p:sp>
        <p:nvSpPr>
          <p:cNvPr id="11" name="">
            <a:extLst xmlns:a="http://schemas.openxmlformats.org/drawingml/2006/main">
              <a:ext uri="{FF2B5EF4-FFF2-40B4-BE49-F238E27FC236}">
                <a16:creationId xmlns:a16="http://schemas.microsoft.com/office/drawing/2014/main" id="{51F253D6-F44F-43F5-949C-3C5ACD8851DE}"/>
              </a:ext>
            </a:extLst>
          </p:cNvPr>
          <p:cNvSpPr>
            <a:spLocks xmlns:a="http://schemas.openxmlformats.org/drawingml/2006/main" noGrp="1"/>
          </p:cNvSpPr>
          <p:nvPr/>
        </p:nvSpPr>
        <p:spPr>
          <a:xfrm xmlns:a="http://schemas.openxmlformats.org/drawingml/2006/main">
            <a:off x="7880350" y="2386013"/>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2CA2B68-1E3E-4325-B3E6-8A20F4459601}"/>
              </a:ext>
            </a:extLst>
          </p:cNvPr>
          <p:cNvSpPr>
            <a:spLocks xmlns:a="http://schemas.openxmlformats.org/drawingml/2006/main" noGrp="1"/>
          </p:cNvSpPr>
          <p:nvPr/>
        </p:nvSpPr>
        <p:spPr>
          <a:xfrm xmlns:a="http://schemas.openxmlformats.org/drawingml/2006/main">
            <a:off x="8089900" y="1809750"/>
            <a:ext cx="3492500" cy="1285875"/>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13" name="Freeze transform">
            <a:extLst xmlns:a="http://schemas.openxmlformats.org/drawingml/2006/main">
              <a:ext uri="{FF2B5EF4-FFF2-40B4-BE49-F238E27FC236}">
                <a16:creationId xmlns:a16="http://schemas.microsoft.com/office/drawing/2014/main" id="{ACDD2E4A-32D7-4AEA-BB96-589837FB8771}"/>
              </a:ext>
            </a:extLst>
          </p:cNvPr>
          <p:cNvSpPr>
            <a:spLocks xmlns:a="http://schemas.openxmlformats.org/drawingml/2006/main" noGrp="1"/>
          </p:cNvSpPr>
          <p:nvPr/>
        </p:nvSpPr>
        <p:spPr>
          <a:xfrm xmlns:a="http://schemas.openxmlformats.org/drawingml/2006/main">
            <a:off x="8251825" y="1962150"/>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Freeze transform</a:t>
            </a:r>
          </a:p>
        </p:txBody>
      </p:sp>
      <p:sp>
        <p:nvSpPr>
          <p:cNvPr id="14" name="Same feature order&#10;Validation and test unchanged">
            <a:extLst xmlns:a="http://schemas.openxmlformats.org/drawingml/2006/main">
              <a:ext uri="{FF2B5EF4-FFF2-40B4-BE49-F238E27FC236}">
                <a16:creationId xmlns:a16="http://schemas.microsoft.com/office/drawing/2014/main" id="{76EC51A1-447E-4787-9B46-D4FC254BCD07}"/>
              </a:ext>
            </a:extLst>
          </p:cNvPr>
          <p:cNvSpPr>
            <a:spLocks xmlns:a="http://schemas.openxmlformats.org/drawingml/2006/main" noGrp="1"/>
          </p:cNvSpPr>
          <p:nvPr/>
        </p:nvSpPr>
        <p:spPr>
          <a:xfrm xmlns:a="http://schemas.openxmlformats.org/drawingml/2006/main">
            <a:off x="8251825" y="2400300"/>
            <a:ext cx="3187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Same feature order</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Validation and test unchanged</a:t>
            </a:r>
          </a:p>
        </p:txBody>
      </p:sp>
      <p:sp>
        <p:nvSpPr>
          <p:cNvPr id="15" name="Static classification">
            <a:extLst xmlns:a="http://schemas.openxmlformats.org/drawingml/2006/main">
              <a:ext uri="{FF2B5EF4-FFF2-40B4-BE49-F238E27FC236}">
                <a16:creationId xmlns:a16="http://schemas.microsoft.com/office/drawing/2014/main" id="{185789A3-6C92-4C3C-BB1F-6BA8B5F5C87C}"/>
              </a:ext>
            </a:extLst>
          </p:cNvPr>
          <p:cNvSpPr>
            <a:spLocks xmlns:a="http://schemas.openxmlformats.org/drawingml/2006/main" noGrp="1"/>
          </p:cNvSpPr>
          <p:nvPr/>
        </p:nvSpPr>
        <p:spPr>
          <a:xfrm xmlns:a="http://schemas.openxmlformats.org/drawingml/2006/main">
            <a:off x="609600" y="33813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Static classification</a:t>
            </a:r>
          </a:p>
        </p:txBody>
      </p:sp>
      <p:sp>
        <p:nvSpPr>
          <p:cNvPr id="16" name="Fit using all eight training classes.&#10;Bounded sample: 2">
            <a:extLst xmlns:a="http://schemas.openxmlformats.org/drawingml/2006/main">
              <a:ext uri="{FF2B5EF4-FFF2-40B4-BE49-F238E27FC236}">
                <a16:creationId xmlns:a16="http://schemas.microsoft.com/office/drawing/2014/main" id="{5D91A0AE-8116-44A2-B710-4DA20F8B5144}"/>
              </a:ext>
            </a:extLst>
          </p:cNvPr>
          <p:cNvSpPr>
            <a:spLocks xmlns:a="http://schemas.openxmlformats.org/drawingml/2006/main" noGrp="1"/>
          </p:cNvSpPr>
          <p:nvPr/>
        </p:nvSpPr>
        <p:spPr>
          <a:xfrm xmlns:a="http://schemas.openxmlformats.org/drawingml/2006/main">
            <a:off x="609600" y="3905250"/>
            <a:ext cx="5095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Fit using all eight training classes.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Bounded sample: 2,000 rows per class.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11,200 / 2,400 / 2,400 split rows.</a:t>
            </a:r>
          </a:p>
        </p:txBody>
      </p:sp>
      <p:sp>
        <p:nvSpPr>
          <p:cNvPr id="17" name="Continual learning">
            <a:extLst xmlns:a="http://schemas.openxmlformats.org/drawingml/2006/main">
              <a:ext uri="{FF2B5EF4-FFF2-40B4-BE49-F238E27FC236}">
                <a16:creationId xmlns:a16="http://schemas.microsoft.com/office/drawing/2014/main" id="{F2D0182A-6383-4EA7-8AD9-F739FA07DEAC}"/>
              </a:ext>
            </a:extLst>
          </p:cNvPr>
          <p:cNvSpPr>
            <a:spLocks xmlns:a="http://schemas.openxmlformats.org/drawingml/2006/main" noGrp="1"/>
          </p:cNvSpPr>
          <p:nvPr/>
        </p:nvSpPr>
        <p:spPr>
          <a:xfrm xmlns:a="http://schemas.openxmlformats.org/drawingml/2006/main">
            <a:off x="6400800" y="33813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Continual learning</a:t>
            </a:r>
          </a:p>
        </p:txBody>
      </p:sp>
      <p:sp>
        <p:nvSpPr>
          <p:cNvPr id="18" name="Fit using Task 1 training classes only.&#10;Task 2 never fi">
            <a:extLst xmlns:a="http://schemas.openxmlformats.org/drawingml/2006/main">
              <a:ext uri="{FF2B5EF4-FFF2-40B4-BE49-F238E27FC236}">
                <a16:creationId xmlns:a16="http://schemas.microsoft.com/office/drawing/2014/main" id="{0C619505-6DB0-45E3-B26C-F916DA163562}"/>
              </a:ext>
            </a:extLst>
          </p:cNvPr>
          <p:cNvSpPr>
            <a:spLocks xmlns:a="http://schemas.openxmlformats.org/drawingml/2006/main" noGrp="1"/>
          </p:cNvSpPr>
          <p:nvPr/>
        </p:nvSpPr>
        <p:spPr>
          <a:xfrm xmlns:a="http://schemas.openxmlformats.org/drawingml/2006/main">
            <a:off x="6400800" y="3905250"/>
            <a:ext cx="51911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Fit using Task 1 training classes only.</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Task 2 never fits preprocessing.</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Replay contains Task 1 training rows only.</a:t>
            </a:r>
          </a:p>
        </p:txBody>
      </p:sp>
      <p:sp>
        <p:nvSpPr>
          <p:cNvPr id="19" name="Row-level stratification does not rule out duplicate-fl">
            <a:extLst xmlns:a="http://schemas.openxmlformats.org/drawingml/2006/main">
              <a:ext uri="{FF2B5EF4-FFF2-40B4-BE49-F238E27FC236}">
                <a16:creationId xmlns:a16="http://schemas.microsoft.com/office/drawing/2014/main" id="{CDAA159C-E2BA-4ABD-A488-E31C11EB9CD6}"/>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Row-level stratification does not rule out duplicate-flow or capture-session leakage.</a:t>
            </a:r>
          </a:p>
        </p:txBody>
      </p:sp>
    </p:spTree>
    <p:extLst>
      <p:ext uri="{BB962C8B-B14F-4D97-AF65-F5344CB8AC3E}">
        <p14:creationId xmlns:p14="http://schemas.microsoft.com/office/powerpoint/2010/main" val="1193745802"/>
      </p:ext>
    </p:extLst>
  </p:cSld>
</p:sld>
</file>

<file path=ppt/slides/slide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IMPLEMENTED · TRAINED FROM SCRATCH">
            <a:extLst xmlns:a="http://schemas.openxmlformats.org/drawingml/2006/main">
              <a:ext uri="{FF2B5EF4-FFF2-40B4-BE49-F238E27FC236}">
                <a16:creationId xmlns:a16="http://schemas.microsoft.com/office/drawing/2014/main" id="{18A6BDA5-568A-4C42-B35B-0FC3B89BFAF9}"/>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IMPLEMENTED · TRAINED FROM SCRATCH</a:t>
            </a:r>
          </a:p>
        </p:txBody>
      </p:sp>
      <p:sp>
        <p:nvSpPr>
          <p:cNvPr id="2" name="Custom tabular Transformer">
            <a:extLst xmlns:a="http://schemas.openxmlformats.org/drawingml/2006/main">
              <a:ext uri="{FF2B5EF4-FFF2-40B4-BE49-F238E27FC236}">
                <a16:creationId xmlns:a16="http://schemas.microsoft.com/office/drawing/2014/main" id="{BD228C8E-B7D9-4993-BD38-1C003D621919}"/>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Custom tabular Transformer</a:t>
            </a:r>
          </a:p>
        </p:txBody>
      </p:sp>
      <p:sp>
        <p:nvSpPr>
          <p:cNvPr id="3" name="04">
            <a:extLst xmlns:a="http://schemas.openxmlformats.org/drawingml/2006/main">
              <a:ext uri="{FF2B5EF4-FFF2-40B4-BE49-F238E27FC236}">
                <a16:creationId xmlns:a16="http://schemas.microsoft.com/office/drawing/2014/main" id="{E5AAF5A4-F875-40EE-907E-765BC475602E}"/>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B204B72B-38B5-4432-B4BA-C662F20727AC}"/>
              </a:ext>
            </a:extLst>
          </p:cNvPr>
          <p:cNvSpPr>
            <a:spLocks xmlns:a="http://schemas.openxmlformats.org/drawingml/2006/main" noGrp="1"/>
          </p:cNvSpPr>
          <p:nvPr/>
        </p:nvSpPr>
        <p:spPr>
          <a:xfrm xmlns:a="http://schemas.openxmlformats.org/drawingml/2006/main">
            <a:off x="609600" y="1809750"/>
            <a:ext cx="2557463" cy="14097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5" name="54 feature values">
            <a:extLst xmlns:a="http://schemas.openxmlformats.org/drawingml/2006/main">
              <a:ext uri="{FF2B5EF4-FFF2-40B4-BE49-F238E27FC236}">
                <a16:creationId xmlns:a16="http://schemas.microsoft.com/office/drawing/2014/main" id="{A5FB87E2-CCD3-4608-9B29-D40D2EBDFDE5}"/>
              </a:ext>
            </a:extLst>
          </p:cNvPr>
          <p:cNvSpPr>
            <a:spLocks xmlns:a="http://schemas.openxmlformats.org/drawingml/2006/main" noGrp="1"/>
          </p:cNvSpPr>
          <p:nvPr/>
        </p:nvSpPr>
        <p:spPr>
          <a:xfrm xmlns:a="http://schemas.openxmlformats.org/drawingml/2006/main">
            <a:off x="771525" y="1962150"/>
            <a:ext cx="22526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Aptos"/>
                <a:ea typeface="Aptos"/>
                <a:cs typeface="Aptos"/>
              </a:defRPr>
            </a:pPr>
            <a:r>
              <a:rPr sz="1800" b="1">
                <a:solidFill>
                  <a:srgbClr val="006D77"/>
                </a:solidFill>
                <a:latin typeface="Aptos"/>
                <a:ea typeface="Aptos"/>
                <a:cs typeface="Aptos"/>
              </a:rPr>
              <a:t>54 feature values</a:t>
            </a:r>
          </a:p>
        </p:txBody>
      </p:sp>
      <p:sp>
        <p:nvSpPr>
          <p:cNvPr id="6" name="Numeric input per flow">
            <a:extLst xmlns:a="http://schemas.openxmlformats.org/drawingml/2006/main">
              <a:ext uri="{FF2B5EF4-FFF2-40B4-BE49-F238E27FC236}">
                <a16:creationId xmlns:a16="http://schemas.microsoft.com/office/drawing/2014/main" id="{0CCB509F-2FDF-4D1B-9E3C-E33FD13F568F}"/>
              </a:ext>
            </a:extLst>
          </p:cNvPr>
          <p:cNvSpPr>
            <a:spLocks xmlns:a="http://schemas.openxmlformats.org/drawingml/2006/main" noGrp="1"/>
          </p:cNvSpPr>
          <p:nvPr/>
        </p:nvSpPr>
        <p:spPr>
          <a:xfrm xmlns:a="http://schemas.openxmlformats.org/drawingml/2006/main">
            <a:off x="771525" y="2400300"/>
            <a:ext cx="2252663"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Numeric input per flow</a:t>
            </a:r>
          </a:p>
        </p:txBody>
      </p:sp>
      <p:sp>
        <p:nvSpPr>
          <p:cNvPr id="7" name="">
            <a:extLst xmlns:a="http://schemas.openxmlformats.org/drawingml/2006/main">
              <a:ext uri="{FF2B5EF4-FFF2-40B4-BE49-F238E27FC236}">
                <a16:creationId xmlns:a16="http://schemas.microsoft.com/office/drawing/2014/main" id="{7B4E94E4-5AF1-4220-9483-FE0D0D2A78D2}"/>
              </a:ext>
            </a:extLst>
          </p:cNvPr>
          <p:cNvSpPr>
            <a:spLocks xmlns:a="http://schemas.openxmlformats.org/drawingml/2006/main" noGrp="1"/>
          </p:cNvSpPr>
          <p:nvPr/>
        </p:nvSpPr>
        <p:spPr>
          <a:xfrm xmlns:a="http://schemas.openxmlformats.org/drawingml/2006/main">
            <a:off x="3205163" y="2447925"/>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8C27E3-8DBD-4848-8485-34141210C153}"/>
              </a:ext>
            </a:extLst>
          </p:cNvPr>
          <p:cNvSpPr>
            <a:spLocks xmlns:a="http://schemas.openxmlformats.org/drawingml/2006/main" noGrp="1"/>
          </p:cNvSpPr>
          <p:nvPr/>
        </p:nvSpPr>
        <p:spPr>
          <a:xfrm xmlns:a="http://schemas.openxmlformats.org/drawingml/2006/main">
            <a:off x="3414713" y="1809750"/>
            <a:ext cx="2557463" cy="14097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9" name="Learned tokens">
            <a:extLst xmlns:a="http://schemas.openxmlformats.org/drawingml/2006/main">
              <a:ext uri="{FF2B5EF4-FFF2-40B4-BE49-F238E27FC236}">
                <a16:creationId xmlns:a16="http://schemas.microsoft.com/office/drawing/2014/main" id="{FE6881C3-7A36-4ED9-9C5F-B41070955663}"/>
              </a:ext>
            </a:extLst>
          </p:cNvPr>
          <p:cNvSpPr>
            <a:spLocks xmlns:a="http://schemas.openxmlformats.org/drawingml/2006/main" noGrp="1"/>
          </p:cNvSpPr>
          <p:nvPr/>
        </p:nvSpPr>
        <p:spPr>
          <a:xfrm xmlns:a="http://schemas.openxmlformats.org/drawingml/2006/main">
            <a:off x="3576638" y="1962150"/>
            <a:ext cx="22526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Aptos"/>
                <a:ea typeface="Aptos"/>
                <a:cs typeface="Aptos"/>
              </a:defRPr>
            </a:pPr>
            <a:r>
              <a:rPr sz="1800" b="1">
                <a:solidFill>
                  <a:srgbClr val="006D77"/>
                </a:solidFill>
                <a:latin typeface="Aptos"/>
                <a:ea typeface="Aptos"/>
                <a:cs typeface="Aptos"/>
              </a:rPr>
              <a:t>Learned tokens</a:t>
            </a:r>
          </a:p>
        </p:txBody>
      </p:sp>
      <p:sp>
        <p:nvSpPr>
          <p:cNvPr id="10" name="Affine feature map&#10;+ CLS + position">
            <a:extLst xmlns:a="http://schemas.openxmlformats.org/drawingml/2006/main">
              <a:ext uri="{FF2B5EF4-FFF2-40B4-BE49-F238E27FC236}">
                <a16:creationId xmlns:a16="http://schemas.microsoft.com/office/drawing/2014/main" id="{D743B4CE-4BC9-473A-9DED-6E87A762A59E}"/>
              </a:ext>
            </a:extLst>
          </p:cNvPr>
          <p:cNvSpPr>
            <a:spLocks xmlns:a="http://schemas.openxmlformats.org/drawingml/2006/main" noGrp="1"/>
          </p:cNvSpPr>
          <p:nvPr/>
        </p:nvSpPr>
        <p:spPr>
          <a:xfrm xmlns:a="http://schemas.openxmlformats.org/drawingml/2006/main">
            <a:off x="3576638" y="2400300"/>
            <a:ext cx="2252663"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Affine feature map</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 CLS + position</a:t>
            </a:r>
          </a:p>
        </p:txBody>
      </p:sp>
      <p:sp>
        <p:nvSpPr>
          <p:cNvPr id="11" name="">
            <a:extLst xmlns:a="http://schemas.openxmlformats.org/drawingml/2006/main">
              <a:ext uri="{FF2B5EF4-FFF2-40B4-BE49-F238E27FC236}">
                <a16:creationId xmlns:a16="http://schemas.microsoft.com/office/drawing/2014/main" id="{7B2E53F3-9FE8-4018-8C88-22F52DCEA050}"/>
              </a:ext>
            </a:extLst>
          </p:cNvPr>
          <p:cNvSpPr>
            <a:spLocks xmlns:a="http://schemas.openxmlformats.org/drawingml/2006/main" noGrp="1"/>
          </p:cNvSpPr>
          <p:nvPr/>
        </p:nvSpPr>
        <p:spPr>
          <a:xfrm xmlns:a="http://schemas.openxmlformats.org/drawingml/2006/main">
            <a:off x="6010275" y="2447925"/>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5FB088-B040-443D-98B7-53A29DA8C9CF}"/>
              </a:ext>
            </a:extLst>
          </p:cNvPr>
          <p:cNvSpPr>
            <a:spLocks xmlns:a="http://schemas.openxmlformats.org/drawingml/2006/main" noGrp="1"/>
          </p:cNvSpPr>
          <p:nvPr/>
        </p:nvSpPr>
        <p:spPr>
          <a:xfrm xmlns:a="http://schemas.openxmlformats.org/drawingml/2006/main">
            <a:off x="6219825" y="1809750"/>
            <a:ext cx="2557463" cy="14097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13" name="Encoder">
            <a:extLst xmlns:a="http://schemas.openxmlformats.org/drawingml/2006/main">
              <a:ext uri="{FF2B5EF4-FFF2-40B4-BE49-F238E27FC236}">
                <a16:creationId xmlns:a16="http://schemas.microsoft.com/office/drawing/2014/main" id="{A4AF6530-0EEF-4A3A-9894-D3B5A117891F}"/>
              </a:ext>
            </a:extLst>
          </p:cNvPr>
          <p:cNvSpPr>
            <a:spLocks xmlns:a="http://schemas.openxmlformats.org/drawingml/2006/main" noGrp="1"/>
          </p:cNvSpPr>
          <p:nvPr/>
        </p:nvSpPr>
        <p:spPr>
          <a:xfrm xmlns:a="http://schemas.openxmlformats.org/drawingml/2006/main">
            <a:off x="6381750" y="1962150"/>
            <a:ext cx="22526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Aptos"/>
                <a:ea typeface="Aptos"/>
                <a:cs typeface="Aptos"/>
              </a:defRPr>
            </a:pPr>
            <a:r>
              <a:rPr sz="1800" b="1">
                <a:solidFill>
                  <a:srgbClr val="006D77"/>
                </a:solidFill>
                <a:latin typeface="Aptos"/>
                <a:ea typeface="Aptos"/>
                <a:cs typeface="Aptos"/>
              </a:rPr>
              <a:t>Encoder</a:t>
            </a:r>
          </a:p>
        </p:txBody>
      </p:sp>
      <p:sp>
        <p:nvSpPr>
          <p:cNvPr id="14" name="Hidden 64, 4 heads&#10;2 layers, MLP 128">
            <a:extLst xmlns:a="http://schemas.openxmlformats.org/drawingml/2006/main">
              <a:ext uri="{FF2B5EF4-FFF2-40B4-BE49-F238E27FC236}">
                <a16:creationId xmlns:a16="http://schemas.microsoft.com/office/drawing/2014/main" id="{731BF09A-A6EE-43D9-AC02-F19FAE2DA82A}"/>
              </a:ext>
            </a:extLst>
          </p:cNvPr>
          <p:cNvSpPr>
            <a:spLocks xmlns:a="http://schemas.openxmlformats.org/drawingml/2006/main" noGrp="1"/>
          </p:cNvSpPr>
          <p:nvPr/>
        </p:nvSpPr>
        <p:spPr>
          <a:xfrm xmlns:a="http://schemas.openxmlformats.org/drawingml/2006/main">
            <a:off x="6381750" y="2400300"/>
            <a:ext cx="2252663"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Hidden 64, 4 heads</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2 layers, MLP 128</a:t>
            </a:r>
          </a:p>
        </p:txBody>
      </p:sp>
      <p:sp>
        <p:nvSpPr>
          <p:cNvPr id="15" name="">
            <a:extLst xmlns:a="http://schemas.openxmlformats.org/drawingml/2006/main">
              <a:ext uri="{FF2B5EF4-FFF2-40B4-BE49-F238E27FC236}">
                <a16:creationId xmlns:a16="http://schemas.microsoft.com/office/drawing/2014/main" id="{D62D5EBC-0EAD-44A6-BC91-51523978E8CF}"/>
              </a:ext>
            </a:extLst>
          </p:cNvPr>
          <p:cNvSpPr>
            <a:spLocks xmlns:a="http://schemas.openxmlformats.org/drawingml/2006/main" noGrp="1"/>
          </p:cNvSpPr>
          <p:nvPr/>
        </p:nvSpPr>
        <p:spPr>
          <a:xfrm xmlns:a="http://schemas.openxmlformats.org/drawingml/2006/main">
            <a:off x="8815388" y="2447925"/>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EBDCE40-BB05-4920-86C6-C25EDD8026E3}"/>
              </a:ext>
            </a:extLst>
          </p:cNvPr>
          <p:cNvSpPr>
            <a:spLocks xmlns:a="http://schemas.openxmlformats.org/drawingml/2006/main" noGrp="1"/>
          </p:cNvSpPr>
          <p:nvPr/>
        </p:nvSpPr>
        <p:spPr>
          <a:xfrm xmlns:a="http://schemas.openxmlformats.org/drawingml/2006/main">
            <a:off x="9024938" y="1809750"/>
            <a:ext cx="2557463" cy="14097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17" name="Output head">
            <a:extLst xmlns:a="http://schemas.openxmlformats.org/drawingml/2006/main">
              <a:ext uri="{FF2B5EF4-FFF2-40B4-BE49-F238E27FC236}">
                <a16:creationId xmlns:a16="http://schemas.microsoft.com/office/drawing/2014/main" id="{0598F77A-8114-47AB-BB9F-04F26A940706}"/>
              </a:ext>
            </a:extLst>
          </p:cNvPr>
          <p:cNvSpPr>
            <a:spLocks xmlns:a="http://schemas.openxmlformats.org/drawingml/2006/main" noGrp="1"/>
          </p:cNvSpPr>
          <p:nvPr/>
        </p:nvSpPr>
        <p:spPr>
          <a:xfrm xmlns:a="http://schemas.openxmlformats.org/drawingml/2006/main">
            <a:off x="9186863" y="1962150"/>
            <a:ext cx="225266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Aptos"/>
                <a:ea typeface="Aptos"/>
                <a:cs typeface="Aptos"/>
              </a:defRPr>
            </a:pPr>
            <a:r>
              <a:rPr sz="1800" b="1">
                <a:solidFill>
                  <a:srgbClr val="006D77"/>
                </a:solidFill>
                <a:latin typeface="Aptos"/>
                <a:ea typeface="Aptos"/>
                <a:cs typeface="Aptos"/>
              </a:rPr>
              <a:t>Output head</a:t>
            </a:r>
          </a:p>
        </p:txBody>
      </p:sp>
      <p:sp>
        <p:nvSpPr>
          <p:cNvPr id="18" name="CLS representation&#10;5 or 8 class logits">
            <a:extLst xmlns:a="http://schemas.openxmlformats.org/drawingml/2006/main">
              <a:ext uri="{FF2B5EF4-FFF2-40B4-BE49-F238E27FC236}">
                <a16:creationId xmlns:a16="http://schemas.microsoft.com/office/drawing/2014/main" id="{502D7A52-02C4-4454-A627-7DA84CAF7FFE}"/>
              </a:ext>
            </a:extLst>
          </p:cNvPr>
          <p:cNvSpPr>
            <a:spLocks xmlns:a="http://schemas.openxmlformats.org/drawingml/2006/main" noGrp="1"/>
          </p:cNvSpPr>
          <p:nvPr/>
        </p:nvSpPr>
        <p:spPr>
          <a:xfrm xmlns:a="http://schemas.openxmlformats.org/drawingml/2006/main">
            <a:off x="9186863" y="2400300"/>
            <a:ext cx="2252663"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CLS representation</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5 or 8 class logits</a:t>
            </a:r>
          </a:p>
        </p:txBody>
      </p:sp>
      <p:sp>
        <p:nvSpPr>
          <p:cNvPr id="19" name="Training configuration">
            <a:extLst xmlns:a="http://schemas.openxmlformats.org/drawingml/2006/main">
              <a:ext uri="{FF2B5EF4-FFF2-40B4-BE49-F238E27FC236}">
                <a16:creationId xmlns:a16="http://schemas.microsoft.com/office/drawing/2014/main" id="{267C7879-C3B8-4FD1-87D8-A014B35EBC98}"/>
              </a:ext>
            </a:extLst>
          </p:cNvPr>
          <p:cNvSpPr>
            <a:spLocks xmlns:a="http://schemas.openxmlformats.org/drawingml/2006/main" noGrp="1"/>
          </p:cNvSpPr>
          <p:nvPr/>
        </p:nvSpPr>
        <p:spPr>
          <a:xfrm xmlns:a="http://schemas.openxmlformats.org/drawingml/2006/main">
            <a:off x="609600" y="35814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Training configuration</a:t>
            </a:r>
          </a:p>
        </p:txBody>
      </p:sp>
      <p:sp>
        <p:nvSpPr>
          <p:cNvPr id="20" name="Cross-entropy with AdamW&#10;Learning rate 0.001, dropout 0">
            <a:extLst xmlns:a="http://schemas.openxmlformats.org/drawingml/2006/main">
              <a:ext uri="{FF2B5EF4-FFF2-40B4-BE49-F238E27FC236}">
                <a16:creationId xmlns:a16="http://schemas.microsoft.com/office/drawing/2014/main" id="{1504A18E-0F3E-48B7-B494-B3375A85BE52}"/>
              </a:ext>
            </a:extLst>
          </p:cNvPr>
          <p:cNvSpPr>
            <a:spLocks xmlns:a="http://schemas.openxmlformats.org/drawingml/2006/main" noGrp="1"/>
          </p:cNvSpPr>
          <p:nvPr/>
        </p:nvSpPr>
        <p:spPr>
          <a:xfrm xmlns:a="http://schemas.openxmlformats.org/drawingml/2006/main">
            <a:off x="609600" y="4105275"/>
            <a:ext cx="509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Cross-entropy with AdamW</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Learning rate 0.001, dropout 0.1</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Validation-loss checkpoint selection</a:t>
            </a:r>
          </a:p>
        </p:txBody>
      </p:sp>
      <p:sp>
        <p:nvSpPr>
          <p:cNvPr id="21" name="Output contract">
            <a:extLst xmlns:a="http://schemas.openxmlformats.org/drawingml/2006/main">
              <a:ext uri="{FF2B5EF4-FFF2-40B4-BE49-F238E27FC236}">
                <a16:creationId xmlns:a16="http://schemas.microsoft.com/office/drawing/2014/main" id="{D002C499-CC2B-4AE9-B47E-67EAB9C8938D}"/>
              </a:ext>
            </a:extLst>
          </p:cNvPr>
          <p:cNvSpPr>
            <a:spLocks xmlns:a="http://schemas.openxmlformats.org/drawingml/2006/main" noGrp="1"/>
          </p:cNvSpPr>
          <p:nvPr/>
        </p:nvSpPr>
        <p:spPr>
          <a:xfrm xmlns:a="http://schemas.openxmlformats.org/drawingml/2006/main">
            <a:off x="6400800" y="358140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Output contract</a:t>
            </a:r>
          </a:p>
        </p:txBody>
      </p:sp>
      <p:sp>
        <p:nvSpPr>
          <p:cNvPr id="22" name="predict_proba columns follow class_ids&#10;Expandable outpu">
            <a:extLst xmlns:a="http://schemas.openxmlformats.org/drawingml/2006/main">
              <a:ext uri="{FF2B5EF4-FFF2-40B4-BE49-F238E27FC236}">
                <a16:creationId xmlns:a16="http://schemas.microsoft.com/office/drawing/2014/main" id="{2E8F2548-FE65-497D-A2BE-E886358E8D94}"/>
              </a:ext>
            </a:extLst>
          </p:cNvPr>
          <p:cNvSpPr>
            <a:spLocks xmlns:a="http://schemas.openxmlformats.org/drawingml/2006/main" noGrp="1"/>
          </p:cNvSpPr>
          <p:nvPr/>
        </p:nvSpPr>
        <p:spPr>
          <a:xfrm xmlns:a="http://schemas.openxmlformats.org/drawingml/2006/main">
            <a:off x="6400800" y="4105275"/>
            <a:ext cx="5191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predict_proba columns follow class_ids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Expandable output head for new classes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Saved models support reload checks</a:t>
            </a:r>
          </a:p>
        </p:txBody>
      </p:sp>
      <p:sp>
        <p:nvSpPr>
          <p:cNvPr id="23" name="This is a compact custom architecture. All model weight">
            <a:extLst xmlns:a="http://schemas.openxmlformats.org/drawingml/2006/main">
              <a:ext uri="{FF2B5EF4-FFF2-40B4-BE49-F238E27FC236}">
                <a16:creationId xmlns:a16="http://schemas.microsoft.com/office/drawing/2014/main" id="{2BD95DBB-F4C1-4EE6-9E09-71A003E6C806}"/>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This is a compact custom architecture. All model weights begin with fresh initialization.</a:t>
            </a:r>
          </a:p>
        </p:txBody>
      </p:sp>
    </p:spTree>
    <p:extLst>
      <p:ext uri="{BB962C8B-B14F-4D97-AF65-F5344CB8AC3E}">
        <p14:creationId xmlns:p14="http://schemas.microsoft.com/office/powerpoint/2010/main" val="2126344717"/>
      </p:ext>
    </p:extLst>
  </p:cSld>
</p:sld>
</file>

<file path=ppt/slides/slide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5" name="VERIFIED EXECUTION · BALANCED SUBSET">
            <a:extLst xmlns:a="http://schemas.openxmlformats.org/drawingml/2006/main">
              <a:ext uri="{FF2B5EF4-FFF2-40B4-BE49-F238E27FC236}">
                <a16:creationId xmlns:a16="http://schemas.microsoft.com/office/drawing/2014/main" id="{C1F4882C-93E6-4BA1-9858-E9D1DA7E332E}"/>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VERIFIED EXECUTION · BALANCED SUBSET</a:t>
            </a:r>
          </a:p>
        </p:txBody>
      </p:sp>
      <p:sp>
        <p:nvSpPr>
          <p:cNvPr id="2" name="Static baseline: strong average, weak Benign recall">
            <a:extLst xmlns:a="http://schemas.openxmlformats.org/drawingml/2006/main">
              <a:ext uri="{FF2B5EF4-FFF2-40B4-BE49-F238E27FC236}">
                <a16:creationId xmlns:a16="http://schemas.microsoft.com/office/drawing/2014/main" id="{6EAE3DE0-0D24-4F93-9676-7C0DFC136D07}"/>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Static baseline: strong average, weak Benign recall</a:t>
            </a:r>
          </a:p>
        </p:txBody>
      </p:sp>
      <p:sp>
        <p:nvSpPr>
          <p:cNvPr id="3" name="05">
            <a:extLst xmlns:a="http://schemas.openxmlformats.org/drawingml/2006/main">
              <a:ext uri="{FF2B5EF4-FFF2-40B4-BE49-F238E27FC236}">
                <a16:creationId xmlns:a16="http://schemas.microsoft.com/office/drawing/2014/main" id="{CFD8CA75-B50D-41FF-9A2E-68CA0FF5C945}"/>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05</a:t>
            </a:r>
          </a:p>
        </p:txBody>
      </p:sp>
      <p:sp>
        <p:nvSpPr>
          <p:cNvPr id="4" name="88.33%">
            <a:extLst xmlns:a="http://schemas.openxmlformats.org/drawingml/2006/main">
              <a:ext uri="{FF2B5EF4-FFF2-40B4-BE49-F238E27FC236}">
                <a16:creationId xmlns:a16="http://schemas.microsoft.com/office/drawing/2014/main" id="{FBB0649F-A074-4A3A-8DFB-E2A244BBBCC9}"/>
              </a:ext>
            </a:extLst>
          </p:cNvPr>
          <p:cNvSpPr>
            <a:spLocks xmlns:a="http://schemas.openxmlformats.org/drawingml/2006/main" noGrp="1"/>
          </p:cNvSpPr>
          <p:nvPr/>
        </p:nvSpPr>
        <p:spPr>
          <a:xfrm xmlns:a="http://schemas.openxmlformats.org/drawingml/2006/main">
            <a:off x="609600"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6D77"/>
                </a:solidFill>
                <a:latin typeface="Aptos"/>
                <a:ea typeface="Aptos"/>
                <a:cs typeface="Aptos"/>
              </a:defRPr>
            </a:pPr>
            <a:r>
              <a:rPr sz="4350" b="1">
                <a:solidFill>
                  <a:srgbClr val="006D77"/>
                </a:solidFill>
                <a:latin typeface="Aptos"/>
                <a:ea typeface="Aptos"/>
                <a:cs typeface="Aptos"/>
              </a:rPr>
              <a:t>88.33%</a:t>
            </a:r>
          </a:p>
        </p:txBody>
      </p:sp>
      <p:sp>
        <p:nvSpPr>
          <p:cNvPr id="5" name="Test accuracy">
            <a:extLst xmlns:a="http://schemas.openxmlformats.org/drawingml/2006/main">
              <a:ext uri="{FF2B5EF4-FFF2-40B4-BE49-F238E27FC236}">
                <a16:creationId xmlns:a16="http://schemas.microsoft.com/office/drawing/2014/main" id="{1C881928-F28A-44A8-9FC8-27E1F7A3A832}"/>
              </a:ext>
            </a:extLst>
          </p:cNvPr>
          <p:cNvSpPr>
            <a:spLocks xmlns:a="http://schemas.openxmlformats.org/drawingml/2006/main" noGrp="1"/>
          </p:cNvSpPr>
          <p:nvPr/>
        </p:nvSpPr>
        <p:spPr>
          <a:xfrm xmlns:a="http://schemas.openxmlformats.org/drawingml/2006/main">
            <a:off x="609600"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Test accuracy</a:t>
            </a:r>
          </a:p>
        </p:txBody>
      </p:sp>
      <p:sp>
        <p:nvSpPr>
          <p:cNvPr id="6" name="0.8780">
            <a:extLst xmlns:a="http://schemas.openxmlformats.org/drawingml/2006/main">
              <a:ext uri="{FF2B5EF4-FFF2-40B4-BE49-F238E27FC236}">
                <a16:creationId xmlns:a16="http://schemas.microsoft.com/office/drawing/2014/main" id="{4A175D22-EECA-4172-83C5-AC6A2B940B36}"/>
              </a:ext>
            </a:extLst>
          </p:cNvPr>
          <p:cNvSpPr>
            <a:spLocks xmlns:a="http://schemas.openxmlformats.org/drawingml/2006/main" noGrp="1"/>
          </p:cNvSpPr>
          <p:nvPr/>
        </p:nvSpPr>
        <p:spPr>
          <a:xfrm xmlns:a="http://schemas.openxmlformats.org/drawingml/2006/main">
            <a:off x="4352925"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6D77"/>
                </a:solidFill>
                <a:latin typeface="Aptos"/>
                <a:ea typeface="Aptos"/>
                <a:cs typeface="Aptos"/>
              </a:defRPr>
            </a:pPr>
            <a:r>
              <a:rPr sz="4350" b="1">
                <a:solidFill>
                  <a:srgbClr val="006D77"/>
                </a:solidFill>
                <a:latin typeface="Aptos"/>
                <a:ea typeface="Aptos"/>
                <a:cs typeface="Aptos"/>
              </a:rPr>
              <a:t>0.8780</a:t>
            </a:r>
          </a:p>
        </p:txBody>
      </p:sp>
      <p:sp>
        <p:nvSpPr>
          <p:cNvPr id="7" name="Macro-F1">
            <a:extLst xmlns:a="http://schemas.openxmlformats.org/drawingml/2006/main">
              <a:ext uri="{FF2B5EF4-FFF2-40B4-BE49-F238E27FC236}">
                <a16:creationId xmlns:a16="http://schemas.microsoft.com/office/drawing/2014/main" id="{7F282074-9E96-4DB7-8A5B-57F45DAE10D6}"/>
              </a:ext>
            </a:extLst>
          </p:cNvPr>
          <p:cNvSpPr>
            <a:spLocks xmlns:a="http://schemas.openxmlformats.org/drawingml/2006/main" noGrp="1"/>
          </p:cNvSpPr>
          <p:nvPr/>
        </p:nvSpPr>
        <p:spPr>
          <a:xfrm xmlns:a="http://schemas.openxmlformats.org/drawingml/2006/main">
            <a:off x="4352925"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Macro-F1</a:t>
            </a:r>
          </a:p>
        </p:txBody>
      </p:sp>
      <p:sp>
        <p:nvSpPr>
          <p:cNvPr id="8" name="56.0%">
            <a:extLst xmlns:a="http://schemas.openxmlformats.org/drawingml/2006/main">
              <a:ext uri="{FF2B5EF4-FFF2-40B4-BE49-F238E27FC236}">
                <a16:creationId xmlns:a16="http://schemas.microsoft.com/office/drawing/2014/main" id="{6AA626CA-F47E-4281-AC0A-04C7BEF2E1DA}"/>
              </a:ext>
            </a:extLst>
          </p:cNvPr>
          <p:cNvSpPr>
            <a:spLocks xmlns:a="http://schemas.openxmlformats.org/drawingml/2006/main" noGrp="1"/>
          </p:cNvSpPr>
          <p:nvPr/>
        </p:nvSpPr>
        <p:spPr>
          <a:xfrm xmlns:a="http://schemas.openxmlformats.org/drawingml/2006/main">
            <a:off x="8096250"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A4442D"/>
                </a:solidFill>
                <a:latin typeface="Aptos"/>
                <a:ea typeface="Aptos"/>
                <a:cs typeface="Aptos"/>
              </a:defRPr>
            </a:pPr>
            <a:r>
              <a:rPr sz="4350" b="1">
                <a:solidFill>
                  <a:srgbClr val="A4442D"/>
                </a:solidFill>
                <a:latin typeface="Aptos"/>
                <a:ea typeface="Aptos"/>
                <a:cs typeface="Aptos"/>
              </a:rPr>
              <a:t>56.0%</a:t>
            </a:r>
          </a:p>
        </p:txBody>
      </p:sp>
      <p:sp>
        <p:nvSpPr>
          <p:cNvPr id="9" name="Benign false-positive rate">
            <a:extLst xmlns:a="http://schemas.openxmlformats.org/drawingml/2006/main">
              <a:ext uri="{FF2B5EF4-FFF2-40B4-BE49-F238E27FC236}">
                <a16:creationId xmlns:a16="http://schemas.microsoft.com/office/drawing/2014/main" id="{E89C69C5-0184-4421-8BCC-2BEF50565A09}"/>
              </a:ext>
            </a:extLst>
          </p:cNvPr>
          <p:cNvSpPr>
            <a:spLocks xmlns:a="http://schemas.openxmlformats.org/drawingml/2006/main" noGrp="1"/>
          </p:cNvSpPr>
          <p:nvPr/>
        </p:nvSpPr>
        <p:spPr>
          <a:xfrm xmlns:a="http://schemas.openxmlformats.org/drawingml/2006/main">
            <a:off x="8096250"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Benign false-positive rate</a:t>
            </a:r>
          </a:p>
        </p:txBody>
      </p:sp>
      <p:sp>
        <p:nvSpPr>
          <p:cNvPr id="10" name="Controlled baseline">
            <a:extLst xmlns:a="http://schemas.openxmlformats.org/drawingml/2006/main">
              <a:ext uri="{FF2B5EF4-FFF2-40B4-BE49-F238E27FC236}">
                <a16:creationId xmlns:a16="http://schemas.microsoft.com/office/drawing/2014/main" id="{B755A854-8E87-430F-8D26-AA09FC3F3DA7}"/>
              </a:ext>
            </a:extLst>
          </p:cNvPr>
          <p:cNvSpPr>
            <a:spLocks xmlns:a="http://schemas.openxmlformats.org/drawingml/2006/main" noGrp="1"/>
          </p:cNvSpPr>
          <p:nvPr/>
        </p:nvSpPr>
        <p:spPr>
          <a:xfrm xmlns:a="http://schemas.openxmlformats.org/drawingml/2006/main">
            <a:off x="609600" y="35909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Controlled baseline</a:t>
            </a:r>
          </a:p>
        </p:txBody>
      </p:sp>
      <p:sp>
        <p:nvSpPr>
          <p:cNvPr id="11" name="16,000 sampled rows, eight classes&#10;2,400 test rows, 300">
            <a:extLst xmlns:a="http://schemas.openxmlformats.org/drawingml/2006/main">
              <a:ext uri="{FF2B5EF4-FFF2-40B4-BE49-F238E27FC236}">
                <a16:creationId xmlns:a16="http://schemas.microsoft.com/office/drawing/2014/main" id="{B238AF5C-6739-49AF-A8BD-C8AA2A985853}"/>
              </a:ext>
            </a:extLst>
          </p:cNvPr>
          <p:cNvSpPr>
            <a:spLocks xmlns:a="http://schemas.openxmlformats.org/drawingml/2006/main" noGrp="1"/>
          </p:cNvSpPr>
          <p:nvPr/>
        </p:nvSpPr>
        <p:spPr>
          <a:xfrm xmlns:a="http://schemas.openxmlformats.org/drawingml/2006/main">
            <a:off x="609600" y="41148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16,000 sampled rows, eight classes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2,400 test rows, 300 per class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20 epochs, best validation epoch 17</a:t>
            </a:r>
          </a:p>
        </p:txBody>
      </p:sp>
      <p:sp>
        <p:nvSpPr>
          <p:cNvPr id="12" name="Benign error burden">
            <a:extLst xmlns:a="http://schemas.openxmlformats.org/drawingml/2006/main">
              <a:ext uri="{FF2B5EF4-FFF2-40B4-BE49-F238E27FC236}">
                <a16:creationId xmlns:a16="http://schemas.microsoft.com/office/drawing/2014/main" id="{8502DCDD-F53A-4363-8211-7D767C08133A}"/>
              </a:ext>
            </a:extLst>
          </p:cNvPr>
          <p:cNvSpPr>
            <a:spLocks xmlns:a="http://schemas.openxmlformats.org/drawingml/2006/main" noGrp="1"/>
          </p:cNvSpPr>
          <p:nvPr/>
        </p:nvSpPr>
        <p:spPr>
          <a:xfrm xmlns:a="http://schemas.openxmlformats.org/drawingml/2006/main">
            <a:off x="6400800" y="359092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Benign error burden</a:t>
            </a:r>
          </a:p>
        </p:txBody>
      </p:sp>
      <p:sp>
        <p:nvSpPr>
          <p:cNvPr id="13" name="168 of 300 Benign flows called attacks&#10;138 of those cal">
            <a:extLst xmlns:a="http://schemas.openxmlformats.org/drawingml/2006/main">
              <a:ext uri="{FF2B5EF4-FFF2-40B4-BE49-F238E27FC236}">
                <a16:creationId xmlns:a16="http://schemas.microsoft.com/office/drawing/2014/main" id="{5A80A2CB-110C-4073-AE7F-918AB4C4A8DA}"/>
              </a:ext>
            </a:extLst>
          </p:cNvPr>
          <p:cNvSpPr>
            <a:spLocks xmlns:a="http://schemas.openxmlformats.org/drawingml/2006/main" noGrp="1"/>
          </p:cNvSpPr>
          <p:nvPr/>
        </p:nvSpPr>
        <p:spPr>
          <a:xfrm xmlns:a="http://schemas.openxmlformats.org/drawingml/2006/main">
            <a:off x="6400800" y="41148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168 of 300 Benign flows called attacks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138 of those called Infiltration</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Benign recall: 44.0%</a:t>
            </a:r>
          </a:p>
        </p:txBody>
      </p:sp>
      <p:sp>
        <p:nvSpPr>
          <p:cNvPr id="14" name="Aggregate accuracy does not establish reliable normal-t">
            <a:extLst xmlns:a="http://schemas.openxmlformats.org/drawingml/2006/main">
              <a:ext uri="{FF2B5EF4-FFF2-40B4-BE49-F238E27FC236}">
                <a16:creationId xmlns:a16="http://schemas.microsoft.com/office/drawing/2014/main" id="{04B95B9E-E8CC-410B-8EF9-00A8A0C6A6C8}"/>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Aggregate accuracy does not establish reliable normal-traffic handling.</a:t>
            </a:r>
          </a:p>
        </p:txBody>
      </p:sp>
    </p:spTree>
    <p:extLst>
      <p:ext uri="{BB962C8B-B14F-4D97-AF65-F5344CB8AC3E}">
        <p14:creationId xmlns:p14="http://schemas.microsoft.com/office/powerpoint/2010/main" val="1434047705"/>
      </p:ext>
    </p:extLst>
  </p:cSld>
</p:sld>
</file>

<file path=ppt/slides/slide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7" name="IMPLEMENTED · BOUNDED COMPARISON EXECUTED">
            <a:extLst xmlns:a="http://schemas.openxmlformats.org/drawingml/2006/main">
              <a:ext uri="{FF2B5EF4-FFF2-40B4-BE49-F238E27FC236}">
                <a16:creationId xmlns:a16="http://schemas.microsoft.com/office/drawing/2014/main" id="{601C3733-710D-4DE5-8948-5AB8F3D24529}"/>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IMPLEMENTED · BOUNDED COMPARISON EXECUTED</a:t>
            </a:r>
          </a:p>
        </p:txBody>
      </p:sp>
      <p:sp>
        <p:nvSpPr>
          <p:cNvPr id="2" name="Continual expansion and replay">
            <a:extLst xmlns:a="http://schemas.openxmlformats.org/drawingml/2006/main">
              <a:ext uri="{FF2B5EF4-FFF2-40B4-BE49-F238E27FC236}">
                <a16:creationId xmlns:a16="http://schemas.microsoft.com/office/drawing/2014/main" id="{167FF841-B8B5-453B-9075-FBD6C8FE7ABE}"/>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Continual expansion and replay</a:t>
            </a:r>
          </a:p>
        </p:txBody>
      </p:sp>
      <p:sp>
        <p:nvSpPr>
          <p:cNvPr id="3" name="06">
            <a:extLst xmlns:a="http://schemas.openxmlformats.org/drawingml/2006/main">
              <a:ext uri="{FF2B5EF4-FFF2-40B4-BE49-F238E27FC236}">
                <a16:creationId xmlns:a16="http://schemas.microsoft.com/office/drawing/2014/main" id="{5D45C869-9222-4181-83AA-E4E6F1218146}"/>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B041FB28-0EE4-482F-8B08-4272FB8C0829}"/>
              </a:ext>
            </a:extLst>
          </p:cNvPr>
          <p:cNvSpPr>
            <a:spLocks xmlns:a="http://schemas.openxmlformats.org/drawingml/2006/main" noGrp="1"/>
          </p:cNvSpPr>
          <p:nvPr/>
        </p:nvSpPr>
        <p:spPr>
          <a:xfrm xmlns:a="http://schemas.openxmlformats.org/drawingml/2006/main">
            <a:off x="609600" y="1781175"/>
            <a:ext cx="3492500" cy="135255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5" name="Task 1">
            <a:extLst xmlns:a="http://schemas.openxmlformats.org/drawingml/2006/main">
              <a:ext uri="{FF2B5EF4-FFF2-40B4-BE49-F238E27FC236}">
                <a16:creationId xmlns:a16="http://schemas.microsoft.com/office/drawing/2014/main" id="{C68CB063-379F-4EB2-9BB7-08FE2E1909C0}"/>
              </a:ext>
            </a:extLst>
          </p:cNvPr>
          <p:cNvSpPr>
            <a:spLocks xmlns:a="http://schemas.openxmlformats.org/drawingml/2006/main" noGrp="1"/>
          </p:cNvSpPr>
          <p:nvPr/>
        </p:nvSpPr>
        <p:spPr>
          <a:xfrm xmlns:a="http://schemas.openxmlformats.org/drawingml/2006/main">
            <a:off x="771525" y="1933575"/>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Task 1</a:t>
            </a:r>
          </a:p>
        </p:txBody>
      </p:sp>
      <p:sp>
        <p:nvSpPr>
          <p:cNvPr id="6" name="IDs 0–4&#10;Five-output model">
            <a:extLst xmlns:a="http://schemas.openxmlformats.org/drawingml/2006/main">
              <a:ext uri="{FF2B5EF4-FFF2-40B4-BE49-F238E27FC236}">
                <a16:creationId xmlns:a16="http://schemas.microsoft.com/office/drawing/2014/main" id="{43A1E2E1-7F59-4A00-87DF-8EAEA84E837B}"/>
              </a:ext>
            </a:extLst>
          </p:cNvPr>
          <p:cNvSpPr>
            <a:spLocks xmlns:a="http://schemas.openxmlformats.org/drawingml/2006/main" noGrp="1"/>
          </p:cNvSpPr>
          <p:nvPr/>
        </p:nvSpPr>
        <p:spPr>
          <a:xfrm xmlns:a="http://schemas.openxmlformats.org/drawingml/2006/main">
            <a:off x="771525" y="2371725"/>
            <a:ext cx="3187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IDs 0–4</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Five-output model</a:t>
            </a:r>
          </a:p>
        </p:txBody>
      </p:sp>
      <p:sp>
        <p:nvSpPr>
          <p:cNvPr id="7" name="">
            <a:extLst xmlns:a="http://schemas.openxmlformats.org/drawingml/2006/main">
              <a:ext uri="{FF2B5EF4-FFF2-40B4-BE49-F238E27FC236}">
                <a16:creationId xmlns:a16="http://schemas.microsoft.com/office/drawing/2014/main" id="{40890FF3-2807-4F97-B217-B1087DCC4CBB}"/>
              </a:ext>
            </a:extLst>
          </p:cNvPr>
          <p:cNvSpPr>
            <a:spLocks xmlns:a="http://schemas.openxmlformats.org/drawingml/2006/main" noGrp="1"/>
          </p:cNvSpPr>
          <p:nvPr/>
        </p:nvSpPr>
        <p:spPr>
          <a:xfrm xmlns:a="http://schemas.openxmlformats.org/drawingml/2006/main">
            <a:off x="4140200" y="2390775"/>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40B53B6-1A25-4577-8465-2B288CEBF409}"/>
              </a:ext>
            </a:extLst>
          </p:cNvPr>
          <p:cNvSpPr>
            <a:spLocks xmlns:a="http://schemas.openxmlformats.org/drawingml/2006/main" noGrp="1"/>
          </p:cNvSpPr>
          <p:nvPr/>
        </p:nvSpPr>
        <p:spPr>
          <a:xfrm xmlns:a="http://schemas.openxmlformats.org/drawingml/2006/main">
            <a:off x="4349750" y="1781175"/>
            <a:ext cx="3492500" cy="135255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9" name="Same saved model">
            <a:extLst xmlns:a="http://schemas.openxmlformats.org/drawingml/2006/main">
              <a:ext uri="{FF2B5EF4-FFF2-40B4-BE49-F238E27FC236}">
                <a16:creationId xmlns:a16="http://schemas.microsoft.com/office/drawing/2014/main" id="{EBD836E9-1E03-4E58-9E01-1711CCBCB310}"/>
              </a:ext>
            </a:extLst>
          </p:cNvPr>
          <p:cNvSpPr>
            <a:spLocks xmlns:a="http://schemas.openxmlformats.org/drawingml/2006/main" noGrp="1"/>
          </p:cNvSpPr>
          <p:nvPr/>
        </p:nvSpPr>
        <p:spPr>
          <a:xfrm xmlns:a="http://schemas.openxmlformats.org/drawingml/2006/main">
            <a:off x="4511675" y="1933575"/>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Same saved model</a:t>
            </a:r>
          </a:p>
        </p:txBody>
      </p:sp>
      <p:sp>
        <p:nvSpPr>
          <p:cNvPr id="10" name="Independent reloads&#10;Expand head to IDs 0–7">
            <a:extLst xmlns:a="http://schemas.openxmlformats.org/drawingml/2006/main">
              <a:ext uri="{FF2B5EF4-FFF2-40B4-BE49-F238E27FC236}">
                <a16:creationId xmlns:a16="http://schemas.microsoft.com/office/drawing/2014/main" id="{E6061B70-77D5-4C56-8B1C-312C21AE890E}"/>
              </a:ext>
            </a:extLst>
          </p:cNvPr>
          <p:cNvSpPr>
            <a:spLocks xmlns:a="http://schemas.openxmlformats.org/drawingml/2006/main" noGrp="1"/>
          </p:cNvSpPr>
          <p:nvPr/>
        </p:nvSpPr>
        <p:spPr>
          <a:xfrm xmlns:a="http://schemas.openxmlformats.org/drawingml/2006/main">
            <a:off x="4511675" y="2371725"/>
            <a:ext cx="3187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Independent reloads</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Expand head to IDs 0–7</a:t>
            </a:r>
          </a:p>
        </p:txBody>
      </p:sp>
      <p:sp>
        <p:nvSpPr>
          <p:cNvPr id="11" name="">
            <a:extLst xmlns:a="http://schemas.openxmlformats.org/drawingml/2006/main">
              <a:ext uri="{FF2B5EF4-FFF2-40B4-BE49-F238E27FC236}">
                <a16:creationId xmlns:a16="http://schemas.microsoft.com/office/drawing/2014/main" id="{1D1EE453-C359-4B1A-81BD-90F18562755A}"/>
              </a:ext>
            </a:extLst>
          </p:cNvPr>
          <p:cNvSpPr>
            <a:spLocks xmlns:a="http://schemas.openxmlformats.org/drawingml/2006/main" noGrp="1"/>
          </p:cNvSpPr>
          <p:nvPr/>
        </p:nvSpPr>
        <p:spPr>
          <a:xfrm xmlns:a="http://schemas.openxmlformats.org/drawingml/2006/main">
            <a:off x="7880350" y="2390775"/>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416F51-DEC4-44B6-BC0C-9986DD18C87D}"/>
              </a:ext>
            </a:extLst>
          </p:cNvPr>
          <p:cNvSpPr>
            <a:spLocks xmlns:a="http://schemas.openxmlformats.org/drawingml/2006/main" noGrp="1"/>
          </p:cNvSpPr>
          <p:nvPr/>
        </p:nvSpPr>
        <p:spPr>
          <a:xfrm xmlns:a="http://schemas.openxmlformats.org/drawingml/2006/main">
            <a:off x="8089900" y="1781175"/>
            <a:ext cx="3492500" cy="135255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13" name="Task 2 arms">
            <a:extLst xmlns:a="http://schemas.openxmlformats.org/drawingml/2006/main">
              <a:ext uri="{FF2B5EF4-FFF2-40B4-BE49-F238E27FC236}">
                <a16:creationId xmlns:a16="http://schemas.microsoft.com/office/drawing/2014/main" id="{A265B859-9AD4-4BEC-B7A1-2AC5193E1199}"/>
              </a:ext>
            </a:extLst>
          </p:cNvPr>
          <p:cNvSpPr>
            <a:spLocks xmlns:a="http://schemas.openxmlformats.org/drawingml/2006/main" noGrp="1"/>
          </p:cNvSpPr>
          <p:nvPr/>
        </p:nvSpPr>
        <p:spPr>
          <a:xfrm xmlns:a="http://schemas.openxmlformats.org/drawingml/2006/main">
            <a:off x="8251825" y="1933575"/>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Task 2 arms</a:t>
            </a:r>
          </a:p>
        </p:txBody>
      </p:sp>
      <p:sp>
        <p:nvSpPr>
          <p:cNvPr id="14" name="New classes only&#10;or new classes + replay">
            <a:extLst xmlns:a="http://schemas.openxmlformats.org/drawingml/2006/main">
              <a:ext uri="{FF2B5EF4-FFF2-40B4-BE49-F238E27FC236}">
                <a16:creationId xmlns:a16="http://schemas.microsoft.com/office/drawing/2014/main" id="{D5B98EE1-E121-47D1-92B1-5012C2E1C17A}"/>
              </a:ext>
            </a:extLst>
          </p:cNvPr>
          <p:cNvSpPr>
            <a:spLocks xmlns:a="http://schemas.openxmlformats.org/drawingml/2006/main" noGrp="1"/>
          </p:cNvSpPr>
          <p:nvPr/>
        </p:nvSpPr>
        <p:spPr>
          <a:xfrm xmlns:a="http://schemas.openxmlformats.org/drawingml/2006/main">
            <a:off x="8251825" y="2371725"/>
            <a:ext cx="3187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New classes only</a:t>
            </a:r>
          </a:p>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or new classes + replay</a:t>
            </a:r>
          </a:p>
        </p:txBody>
      </p:sp>
      <p:graphicFrame>
        <p:nvGraphicFramePr>
          <p:cNvPr id="31" name=""/>
          <p:cNvGraphicFramePr/>
          <p:nvPr/>
        </p:nvGraphicFramePr>
        <p:xfrm>
          <a:off xmlns:a="http://schemas.openxmlformats.org/drawingml/2006/main" x="609600" y="3533775"/>
          <a:ext xmlns:a="http://schemas.openxmlformats.org/drawingml/2006/main" cx="10972800" cy="1581150"/>
        </p:xfrm>
        <a:graphic xmlns:a="http://schemas.openxmlformats.org/drawingml/2006/main">
          <a:graphicData uri="http://schemas.openxmlformats.org/drawingml/2006/table">
            <a:tbl>
              <a:tblPr/>
              <a:tblGrid>
                <a:gridCol w="4000500"/>
                <a:gridCol w="2324100"/>
                <a:gridCol w="2324100"/>
                <a:gridCol w="2324100"/>
              </a:tblGrid>
              <a:tr h="527050">
                <a:tc>
                  <a:txBody>
                    <a:bodyPr>
                      <a:noAutofit/>
                    </a:bodyPr>
                    <a:lstStyle/>
                    <a:p>
                      <a:r>
                        <a:rPr sz="1800" b="1">
                          <a:solidFill>
                            <a:srgbClr val="FFFFFF"/>
                          </a:solidFill>
                          <a:latin typeface="Aptos"/>
                          <a:ea typeface="Aptos"/>
                          <a:cs typeface="Aptos"/>
                        </a:rPr>
                        <a:t>After Task 2</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Old accuracy</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New accuracy</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Combined</a:t>
                      </a:r>
                    </a:p>
                  </a:txBody>
                  <a:tcPr marL="91440" marR="91440" marT="45720" marB="45720">
                    <a:solidFill>
                      <a:srgbClr val="142D3B"/>
                    </a:solidFill>
                  </a:tcPr>
                </a:tc>
              </a:tr>
              <a:tr h="527050">
                <a:tc>
                  <a:txBody>
                    <a:bodyPr>
                      <a:noAutofit/>
                    </a:bodyPr>
                    <a:lstStyle/>
                    <a:p>
                      <a:r>
                        <a:rPr sz="1800" b="1">
                          <a:solidFill>
                            <a:srgbClr val="16313E"/>
                          </a:solidFill>
                          <a:latin typeface="Aptos"/>
                          <a:ea typeface="Aptos"/>
                          <a:cs typeface="Aptos"/>
                        </a:rPr>
                        <a:t>Sequential</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0.0%</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93.78%</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35.17%</a:t>
                      </a:r>
                    </a:p>
                  </a:txBody>
                  <a:tcPr marL="91440" marR="91440" marT="45720" marB="45720">
                    <a:solidFill>
                      <a:srgbClr val="FFFFFF"/>
                    </a:solidFill>
                  </a:tcPr>
                </a:tc>
              </a:tr>
              <a:tr h="527050">
                <a:tc>
                  <a:txBody>
                    <a:bodyPr>
                      <a:noAutofit/>
                    </a:bodyPr>
                    <a:lstStyle/>
                    <a:p>
                      <a:r>
                        <a:rPr sz="1800" b="1">
                          <a:solidFill>
                            <a:srgbClr val="16313E"/>
                          </a:solidFill>
                          <a:latin typeface="Aptos"/>
                          <a:ea typeface="Aptos"/>
                          <a:cs typeface="Aptos"/>
                        </a:rPr>
                        <a:t>Replay, shuffled draws</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68.27%</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94.33%</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78.04%</a:t>
                      </a:r>
                    </a:p>
                  </a:txBody>
                  <a:tcPr marL="91440" marR="91440" marT="45720" marB="45720">
                    <a:solidFill>
                      <a:srgbClr val="EDF2F3"/>
                    </a:solidFill>
                  </a:tcPr>
                </a:tc>
              </a:tr>
            </a:tbl>
          </a:graphicData>
        </a:graphic>
      </p:graphicFrame>
      <p:sp>
        <p:nvSpPr>
          <p:cNvPr id="16" name="Memory: 500 unique old training rows, 100 per class. Ol">
            <a:extLst xmlns:a="http://schemas.openxmlformats.org/drawingml/2006/main">
              <a:ext uri="{FF2B5EF4-FFF2-40B4-BE49-F238E27FC236}">
                <a16:creationId xmlns:a16="http://schemas.microsoft.com/office/drawing/2014/main" id="{D4C82F05-F4F2-406B-8DD4-4CEE74C33480}"/>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Memory: 500 unique old training rows, 100 per class. Old accuracy before Task 2: 96.87%.</a:t>
            </a:r>
          </a:p>
        </p:txBody>
      </p:sp>
    </p:spTree>
    <p:extLst>
      <p:ext uri="{BB962C8B-B14F-4D97-AF65-F5344CB8AC3E}">
        <p14:creationId xmlns:p14="http://schemas.microsoft.com/office/powerpoint/2010/main" val="510581355"/>
      </p:ext>
    </p:extLst>
  </p:cSld>
</p:sld>
</file>

<file path=ppt/slides/slide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0" name="VERIFIED EXECUTION · STATIC BALANCED SUBSET">
            <a:extLst xmlns:a="http://schemas.openxmlformats.org/drawingml/2006/main">
              <a:ext uri="{FF2B5EF4-FFF2-40B4-BE49-F238E27FC236}">
                <a16:creationId xmlns:a16="http://schemas.microsoft.com/office/drawing/2014/main" id="{593BC1A6-F2DE-4AA9-885F-64A022883616}"/>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VERIFIED EXECUTION · STATIC BALANCED SUBSET</a:t>
            </a:r>
          </a:p>
        </p:txBody>
      </p:sp>
      <p:sp>
        <p:nvSpPr>
          <p:cNvPr id="2" name="Label poisoning uses explicit budgets">
            <a:extLst xmlns:a="http://schemas.openxmlformats.org/drawingml/2006/main">
              <a:ext uri="{FF2B5EF4-FFF2-40B4-BE49-F238E27FC236}">
                <a16:creationId xmlns:a16="http://schemas.microsoft.com/office/drawing/2014/main" id="{77A4A5AB-49F7-4F85-80B5-2FC35CD7EC03}"/>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Label poisoning uses explicit budgets</a:t>
            </a:r>
          </a:p>
        </p:txBody>
      </p:sp>
      <p:sp>
        <p:nvSpPr>
          <p:cNvPr id="3" name="07">
            <a:extLst xmlns:a="http://schemas.openxmlformats.org/drawingml/2006/main">
              <a:ext uri="{FF2B5EF4-FFF2-40B4-BE49-F238E27FC236}">
                <a16:creationId xmlns:a16="http://schemas.microsoft.com/office/drawing/2014/main" id="{80DFF461-CB4B-494F-8E91-F7368220AB66}"/>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07</a:t>
            </a:r>
          </a:p>
        </p:txBody>
      </p:sp>
      <p:sp>
        <p:nvSpPr>
          <p:cNvPr id="4" name="Random label flips">
            <a:extLst xmlns:a="http://schemas.openxmlformats.org/drawingml/2006/main">
              <a:ext uri="{FF2B5EF4-FFF2-40B4-BE49-F238E27FC236}">
                <a16:creationId xmlns:a16="http://schemas.microsoft.com/office/drawing/2014/main" id="{0AB49493-A01B-4297-9382-D12303783414}"/>
              </a:ext>
            </a:extLst>
          </p:cNvPr>
          <p:cNvSpPr>
            <a:spLocks xmlns:a="http://schemas.openxmlformats.org/drawingml/2006/main" noGrp="1"/>
          </p:cNvSpPr>
          <p:nvPr/>
        </p:nvSpPr>
        <p:spPr>
          <a:xfrm xmlns:a="http://schemas.openxmlformats.org/drawingml/2006/main">
            <a:off x="609600" y="18097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Random label flips</a:t>
            </a:r>
          </a:p>
        </p:txBody>
      </p:sp>
      <p:sp>
        <p:nvSpPr>
          <p:cNvPr id="5" name="Budget denominator: all training rows&#10;Choose a differen">
            <a:extLst xmlns:a="http://schemas.openxmlformats.org/drawingml/2006/main">
              <a:ext uri="{FF2B5EF4-FFF2-40B4-BE49-F238E27FC236}">
                <a16:creationId xmlns:a16="http://schemas.microsoft.com/office/drawing/2014/main" id="{540C54C6-8ADF-4D91-8ACF-F768F928AEAF}"/>
              </a:ext>
            </a:extLst>
          </p:cNvPr>
          <p:cNvSpPr>
            <a:spLocks xmlns:a="http://schemas.openxmlformats.org/drawingml/2006/main" noGrp="1"/>
          </p:cNvSpPr>
          <p:nvPr/>
        </p:nvSpPr>
        <p:spPr>
          <a:xfrm xmlns:a="http://schemas.openxmlformats.org/drawingml/2006/main">
            <a:off x="609600" y="2333625"/>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Budget denominator: all training rows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Choose a different allowed label</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20% = 2,240 / 11,200 rows</a:t>
            </a:r>
          </a:p>
        </p:txBody>
      </p:sp>
      <p:sp>
        <p:nvSpPr>
          <p:cNvPr id="6" name="Targeted attack-to-Benign flips">
            <a:extLst xmlns:a="http://schemas.openxmlformats.org/drawingml/2006/main">
              <a:ext uri="{FF2B5EF4-FFF2-40B4-BE49-F238E27FC236}">
                <a16:creationId xmlns:a16="http://schemas.microsoft.com/office/drawing/2014/main" id="{F0583E3E-F4E3-4A35-A001-9B1CFE56ED5A}"/>
              </a:ext>
            </a:extLst>
          </p:cNvPr>
          <p:cNvSpPr>
            <a:spLocks xmlns:a="http://schemas.openxmlformats.org/drawingml/2006/main" noGrp="1"/>
          </p:cNvSpPr>
          <p:nvPr/>
        </p:nvSpPr>
        <p:spPr>
          <a:xfrm xmlns:a="http://schemas.openxmlformats.org/drawingml/2006/main">
            <a:off x="6400800" y="18097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Targeted attack-to-Benign flips</a:t>
            </a:r>
          </a:p>
        </p:txBody>
      </p:sp>
      <p:sp>
        <p:nvSpPr>
          <p:cNvPr id="7" name="Denominator: eligible attack rows&#10;Target class: Benign ">
            <a:extLst xmlns:a="http://schemas.openxmlformats.org/drawingml/2006/main">
              <a:ext uri="{FF2B5EF4-FFF2-40B4-BE49-F238E27FC236}">
                <a16:creationId xmlns:a16="http://schemas.microsoft.com/office/drawing/2014/main" id="{FBCD2E48-D637-43A6-BDE4-EE6E3D053D22}"/>
              </a:ext>
            </a:extLst>
          </p:cNvPr>
          <p:cNvSpPr>
            <a:spLocks xmlns:a="http://schemas.openxmlformats.org/drawingml/2006/main" noGrp="1"/>
          </p:cNvSpPr>
          <p:nvPr/>
        </p:nvSpPr>
        <p:spPr>
          <a:xfrm xmlns:a="http://schemas.openxmlformats.org/drawingml/2006/main">
            <a:off x="6400800" y="2333625"/>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Denominator: eligible attack rows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Target class: Benign (ID 0)</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20% = 1,960 / 9,800 eligible rows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Equivalent to 17.5% of all training rows</a:t>
            </a:r>
          </a:p>
        </p:txBody>
      </p:sp>
      <p:graphicFrame>
        <p:nvGraphicFramePr>
          <p:cNvPr id="17" name=""/>
          <p:cNvGraphicFramePr/>
          <p:nvPr/>
        </p:nvGraphicFramePr>
        <p:xfrm>
          <a:off xmlns:a="http://schemas.openxmlformats.org/drawingml/2006/main" x="609600" y="3924300"/>
          <a:ext xmlns:a="http://schemas.openxmlformats.org/drawingml/2006/main" cx="10972800" cy="1552575"/>
        </p:xfrm>
        <a:graphic xmlns:a="http://schemas.openxmlformats.org/drawingml/2006/main">
          <a:graphicData uri="http://schemas.openxmlformats.org/drawingml/2006/table">
            <a:tbl>
              <a:tblPr/>
              <a:tblGrid>
                <a:gridCol w="3429000"/>
                <a:gridCol w="2362200"/>
                <a:gridCol w="2362200"/>
                <a:gridCol w="2819400"/>
              </a:tblGrid>
              <a:tr h="388144">
                <a:tc>
                  <a:txBody>
                    <a:bodyPr>
                      <a:noAutofit/>
                    </a:bodyPr>
                    <a:lstStyle/>
                    <a:p>
                      <a:r>
                        <a:rPr sz="1800" b="1">
                          <a:solidFill>
                            <a:srgbClr val="FFFFFF"/>
                          </a:solidFill>
                          <a:latin typeface="Aptos"/>
                          <a:ea typeface="Aptos"/>
                          <a:cs typeface="Aptos"/>
                        </a:rPr>
                        <a:t>Static condition</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Test accuracy</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Macro-F1</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Attack → Benign</a:t>
                      </a:r>
                    </a:p>
                  </a:txBody>
                  <a:tcPr marL="91440" marR="91440" marT="45720" marB="45720">
                    <a:solidFill>
                      <a:srgbClr val="142D3B"/>
                    </a:solidFill>
                  </a:tcPr>
                </a:tc>
              </a:tr>
              <a:tr h="388144">
                <a:tc>
                  <a:txBody>
                    <a:bodyPr>
                      <a:noAutofit/>
                    </a:bodyPr>
                    <a:lstStyle/>
                    <a:p>
                      <a:r>
                        <a:rPr sz="1800" b="1">
                          <a:solidFill>
                            <a:srgbClr val="16313E"/>
                          </a:solidFill>
                          <a:latin typeface="Aptos"/>
                          <a:ea typeface="Aptos"/>
                          <a:cs typeface="Aptos"/>
                        </a:rPr>
                        <a:t>Clean control</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88.33%</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0.8780</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2.52%</a:t>
                      </a:r>
                    </a:p>
                  </a:txBody>
                  <a:tcPr marL="91440" marR="91440" marT="45720" marB="45720">
                    <a:solidFill>
                      <a:srgbClr val="FFFFFF"/>
                    </a:solidFill>
                  </a:tcPr>
                </a:tc>
              </a:tr>
              <a:tr h="388144">
                <a:tc>
                  <a:txBody>
                    <a:bodyPr>
                      <a:noAutofit/>
                    </a:bodyPr>
                    <a:lstStyle/>
                    <a:p>
                      <a:r>
                        <a:rPr sz="1800" b="1">
                          <a:solidFill>
                            <a:srgbClr val="16313E"/>
                          </a:solidFill>
                          <a:latin typeface="Aptos"/>
                          <a:ea typeface="Aptos"/>
                          <a:cs typeface="Aptos"/>
                        </a:rPr>
                        <a:t>Random 20%</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87.00%</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0.8590</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1.48%</a:t>
                      </a:r>
                    </a:p>
                  </a:txBody>
                  <a:tcPr marL="91440" marR="91440" marT="45720" marB="45720">
                    <a:solidFill>
                      <a:srgbClr val="EDF2F3"/>
                    </a:solidFill>
                  </a:tcPr>
                </a:tc>
              </a:tr>
              <a:tr h="388144">
                <a:tc>
                  <a:txBody>
                    <a:bodyPr>
                      <a:noAutofit/>
                    </a:bodyPr>
                    <a:lstStyle/>
                    <a:p>
                      <a:r>
                        <a:rPr sz="1800" b="1">
                          <a:solidFill>
                            <a:srgbClr val="16313E"/>
                          </a:solidFill>
                          <a:latin typeface="Aptos"/>
                          <a:ea typeface="Aptos"/>
                          <a:cs typeface="Aptos"/>
                        </a:rPr>
                        <a:t>Targeted 20%</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85.33%</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0.8515</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6.57%</a:t>
                      </a:r>
                    </a:p>
                  </a:txBody>
                  <a:tcPr marL="91440" marR="91440" marT="45720" marB="45720">
                    <a:solidFill>
                      <a:srgbClr val="FFFFFF"/>
                    </a:solidFill>
                  </a:tcPr>
                </a:tc>
              </a:tr>
            </a:tbl>
          </a:graphicData>
        </a:graphic>
      </p:graphicFrame>
      <p:sp>
        <p:nvSpPr>
          <p:cNvPr id="9" name="Sweep: 0%, 5%, 10%, 20%. Effects were not monotonic acr">
            <a:extLst xmlns:a="http://schemas.openxmlformats.org/drawingml/2006/main">
              <a:ext uri="{FF2B5EF4-FFF2-40B4-BE49-F238E27FC236}">
                <a16:creationId xmlns:a16="http://schemas.microsoft.com/office/drawing/2014/main" id="{8714C1FE-9E49-4E9D-9A98-E914FBFABEDF}"/>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Sweep: 0%, 5%, 10%, 20%. Effects were not monotonic across all metrics.</a:t>
            </a:r>
          </a:p>
        </p:txBody>
      </p:sp>
    </p:spTree>
    <p:extLst>
      <p:ext uri="{BB962C8B-B14F-4D97-AF65-F5344CB8AC3E}">
        <p14:creationId xmlns:p14="http://schemas.microsoft.com/office/powerpoint/2010/main" val="1134899472"/>
      </p:ext>
    </p:extLst>
  </p:cSld>
</p:sld>
</file>

<file path=ppt/slides/slide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7" name="VERIFIED EXECUTION · REPLAY LABEL POISONING">
            <a:extLst xmlns:a="http://schemas.openxmlformats.org/drawingml/2006/main">
              <a:ext uri="{FF2B5EF4-FFF2-40B4-BE49-F238E27FC236}">
                <a16:creationId xmlns:a16="http://schemas.microsoft.com/office/drawing/2014/main" id="{1E3660A3-8194-4FCC-B771-2C14FC7A5198}"/>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VERIFIED EXECUTION · REPLAY LABEL POISONING</a:t>
            </a:r>
          </a:p>
        </p:txBody>
      </p:sp>
      <p:sp>
        <p:nvSpPr>
          <p:cNvPr id="2" name="Frozen-teacher filtering has mixed outcomes">
            <a:extLst xmlns:a="http://schemas.openxmlformats.org/drawingml/2006/main">
              <a:ext uri="{FF2B5EF4-FFF2-40B4-BE49-F238E27FC236}">
                <a16:creationId xmlns:a16="http://schemas.microsoft.com/office/drawing/2014/main" id="{F48CD556-1237-409A-BA9E-6E7B8F8550F6}"/>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Frozen-teacher filtering has mixed outcomes</a:t>
            </a:r>
          </a:p>
        </p:txBody>
      </p:sp>
      <p:sp>
        <p:nvSpPr>
          <p:cNvPr id="3" name="08">
            <a:extLst xmlns:a="http://schemas.openxmlformats.org/drawingml/2006/main">
              <a:ext uri="{FF2B5EF4-FFF2-40B4-BE49-F238E27FC236}">
                <a16:creationId xmlns:a16="http://schemas.microsoft.com/office/drawing/2014/main" id="{F1744112-E532-49E7-8087-4CD8D249997A}"/>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6455F99C-5AF1-43C4-8A93-01C6499A811B}"/>
              </a:ext>
            </a:extLst>
          </p:cNvPr>
          <p:cNvSpPr>
            <a:spLocks xmlns:a="http://schemas.openxmlformats.org/drawingml/2006/main" noGrp="1"/>
          </p:cNvSpPr>
          <p:nvPr/>
        </p:nvSpPr>
        <p:spPr>
          <a:xfrm xmlns:a="http://schemas.openxmlformats.org/drawingml/2006/main">
            <a:off x="609600" y="1762125"/>
            <a:ext cx="3492500" cy="12192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5" name="Frozen Task 1 teacher">
            <a:extLst xmlns:a="http://schemas.openxmlformats.org/drawingml/2006/main">
              <a:ext uri="{FF2B5EF4-FFF2-40B4-BE49-F238E27FC236}">
                <a16:creationId xmlns:a16="http://schemas.microsoft.com/office/drawing/2014/main" id="{3BA77A55-C27D-43F7-9774-72A3572CCA8F}"/>
              </a:ext>
            </a:extLst>
          </p:cNvPr>
          <p:cNvSpPr>
            <a:spLocks xmlns:a="http://schemas.openxmlformats.org/drawingml/2006/main" noGrp="1"/>
          </p:cNvSpPr>
          <p:nvPr/>
        </p:nvSpPr>
        <p:spPr>
          <a:xfrm xmlns:a="http://schemas.openxmlformats.org/drawingml/2006/main">
            <a:off x="771525" y="1914525"/>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Frozen Task 1 teacher</a:t>
            </a:r>
          </a:p>
        </p:txBody>
      </p:sp>
      <p:sp>
        <p:nvSpPr>
          <p:cNvPr id="6" name="Score = 1 − P(supplied label)">
            <a:extLst xmlns:a="http://schemas.openxmlformats.org/drawingml/2006/main">
              <a:ext uri="{FF2B5EF4-FFF2-40B4-BE49-F238E27FC236}">
                <a16:creationId xmlns:a16="http://schemas.microsoft.com/office/drawing/2014/main" id="{47EB5536-A735-437B-AAB9-2F1A5765A16D}"/>
              </a:ext>
            </a:extLst>
          </p:cNvPr>
          <p:cNvSpPr>
            <a:spLocks xmlns:a="http://schemas.openxmlformats.org/drawingml/2006/main" noGrp="1"/>
          </p:cNvSpPr>
          <p:nvPr/>
        </p:nvSpPr>
        <p:spPr>
          <a:xfrm xmlns:a="http://schemas.openxmlformats.org/drawingml/2006/main">
            <a:off x="771525" y="2352675"/>
            <a:ext cx="318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Score = 1 − P(supplied label)</a:t>
            </a:r>
          </a:p>
        </p:txBody>
      </p:sp>
      <p:sp>
        <p:nvSpPr>
          <p:cNvPr id="7" name="">
            <a:extLst xmlns:a="http://schemas.openxmlformats.org/drawingml/2006/main">
              <a:ext uri="{FF2B5EF4-FFF2-40B4-BE49-F238E27FC236}">
                <a16:creationId xmlns:a16="http://schemas.microsoft.com/office/drawing/2014/main" id="{D07210F8-480D-4158-BD89-7028CA1ECE31}"/>
              </a:ext>
            </a:extLst>
          </p:cNvPr>
          <p:cNvSpPr>
            <a:spLocks xmlns:a="http://schemas.openxmlformats.org/drawingml/2006/main" noGrp="1"/>
          </p:cNvSpPr>
          <p:nvPr/>
        </p:nvSpPr>
        <p:spPr>
          <a:xfrm xmlns:a="http://schemas.openxmlformats.org/drawingml/2006/main">
            <a:off x="4140200" y="2305050"/>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4DD6298-B530-4C73-A314-7740DDA6452F}"/>
              </a:ext>
            </a:extLst>
          </p:cNvPr>
          <p:cNvSpPr>
            <a:spLocks xmlns:a="http://schemas.openxmlformats.org/drawingml/2006/main" noGrp="1"/>
          </p:cNvSpPr>
          <p:nvPr/>
        </p:nvSpPr>
        <p:spPr>
          <a:xfrm xmlns:a="http://schemas.openxmlformats.org/drawingml/2006/main">
            <a:off x="4349750" y="1762125"/>
            <a:ext cx="3492500" cy="12192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9" name="Validation calibration">
            <a:extLst xmlns:a="http://schemas.openxmlformats.org/drawingml/2006/main">
              <a:ext uri="{FF2B5EF4-FFF2-40B4-BE49-F238E27FC236}">
                <a16:creationId xmlns:a16="http://schemas.microsoft.com/office/drawing/2014/main" id="{BB917B01-7820-45FD-9015-D9638C209EDA}"/>
              </a:ext>
            </a:extLst>
          </p:cNvPr>
          <p:cNvSpPr>
            <a:spLocks xmlns:a="http://schemas.openxmlformats.org/drawingml/2006/main" noGrp="1"/>
          </p:cNvSpPr>
          <p:nvPr/>
        </p:nvSpPr>
        <p:spPr>
          <a:xfrm xmlns:a="http://schemas.openxmlformats.org/drawingml/2006/main">
            <a:off x="4511675" y="1914525"/>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Validation calibration</a:t>
            </a:r>
          </a:p>
        </p:txBody>
      </p:sp>
      <p:sp>
        <p:nvSpPr>
          <p:cNvPr id="10" name="95th percentile of clean scores">
            <a:extLst xmlns:a="http://schemas.openxmlformats.org/drawingml/2006/main">
              <a:ext uri="{FF2B5EF4-FFF2-40B4-BE49-F238E27FC236}">
                <a16:creationId xmlns:a16="http://schemas.microsoft.com/office/drawing/2014/main" id="{D154736F-FE18-435F-8C1A-17C4F55F2062}"/>
              </a:ext>
            </a:extLst>
          </p:cNvPr>
          <p:cNvSpPr>
            <a:spLocks xmlns:a="http://schemas.openxmlformats.org/drawingml/2006/main" noGrp="1"/>
          </p:cNvSpPr>
          <p:nvPr/>
        </p:nvSpPr>
        <p:spPr>
          <a:xfrm xmlns:a="http://schemas.openxmlformats.org/drawingml/2006/main">
            <a:off x="4511675" y="2352675"/>
            <a:ext cx="318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95th percentile of clean scores</a:t>
            </a:r>
          </a:p>
        </p:txBody>
      </p:sp>
      <p:sp>
        <p:nvSpPr>
          <p:cNvPr id="11" name="">
            <a:extLst xmlns:a="http://schemas.openxmlformats.org/drawingml/2006/main">
              <a:ext uri="{FF2B5EF4-FFF2-40B4-BE49-F238E27FC236}">
                <a16:creationId xmlns:a16="http://schemas.microsoft.com/office/drawing/2014/main" id="{77851366-1674-43FB-BC32-833557204BA0}"/>
              </a:ext>
            </a:extLst>
          </p:cNvPr>
          <p:cNvSpPr>
            <a:spLocks xmlns:a="http://schemas.openxmlformats.org/drawingml/2006/main" noGrp="1"/>
          </p:cNvSpPr>
          <p:nvPr/>
        </p:nvSpPr>
        <p:spPr>
          <a:xfrm xmlns:a="http://schemas.openxmlformats.org/drawingml/2006/main">
            <a:off x="7880350" y="2305050"/>
            <a:ext cx="171450" cy="1333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B02F4F-A581-4913-AF22-0B8EF9FA218D}"/>
              </a:ext>
            </a:extLst>
          </p:cNvPr>
          <p:cNvSpPr>
            <a:spLocks xmlns:a="http://schemas.openxmlformats.org/drawingml/2006/main" noGrp="1"/>
          </p:cNvSpPr>
          <p:nvPr/>
        </p:nvSpPr>
        <p:spPr>
          <a:xfrm xmlns:a="http://schemas.openxmlformats.org/drawingml/2006/main">
            <a:off x="8089900" y="1762125"/>
            <a:ext cx="3492500" cy="1219200"/>
          </a:xfrm>
          <a:prstGeom xmlns:a="http://schemas.openxmlformats.org/drawingml/2006/main" prst="rect">
            <a:avLst/>
          </a:prstGeom>
          <a:solidFill xmlns:a="http://schemas.openxmlformats.org/drawingml/2006/main">
            <a:srgbClr val="E5EFF0"/>
          </a:solidFill>
          <a:ln xmlns:a="http://schemas.openxmlformats.org/drawingml/2006/main" w="0">
            <a:noFill/>
          </a:ln>
        </p:spPr>
      </p:sp>
      <p:sp>
        <p:nvSpPr>
          <p:cNvPr id="13" name="Old replay only">
            <a:extLst xmlns:a="http://schemas.openxmlformats.org/drawingml/2006/main">
              <a:ext uri="{FF2B5EF4-FFF2-40B4-BE49-F238E27FC236}">
                <a16:creationId xmlns:a16="http://schemas.microsoft.com/office/drawing/2014/main" id="{76B4B6F6-12F5-4D05-A88D-6AFF91A017A9}"/>
              </a:ext>
            </a:extLst>
          </p:cNvPr>
          <p:cNvSpPr>
            <a:spLocks xmlns:a="http://schemas.openxmlformats.org/drawingml/2006/main" noGrp="1"/>
          </p:cNvSpPr>
          <p:nvPr/>
        </p:nvSpPr>
        <p:spPr>
          <a:xfrm xmlns:a="http://schemas.openxmlformats.org/drawingml/2006/main">
            <a:off x="8251825" y="1914525"/>
            <a:ext cx="318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Aptos"/>
                <a:ea typeface="Aptos"/>
                <a:cs typeface="Aptos"/>
              </a:defRPr>
            </a:pPr>
            <a:r>
              <a:rPr sz="1950" b="1">
                <a:solidFill>
                  <a:srgbClr val="006D77"/>
                </a:solidFill>
                <a:latin typeface="Aptos"/>
                <a:ea typeface="Aptos"/>
                <a:cs typeface="Aptos"/>
              </a:rPr>
              <a:t>Old replay only</a:t>
            </a:r>
          </a:p>
        </p:txBody>
      </p:sp>
      <p:sp>
        <p:nvSpPr>
          <p:cNvPr id="14" name="Quarantine scores above cutoff">
            <a:extLst xmlns:a="http://schemas.openxmlformats.org/drawingml/2006/main">
              <a:ext uri="{FF2B5EF4-FFF2-40B4-BE49-F238E27FC236}">
                <a16:creationId xmlns:a16="http://schemas.microsoft.com/office/drawing/2014/main" id="{3C90BE92-5E24-47FC-8FCB-3AD2D34D249B}"/>
              </a:ext>
            </a:extLst>
          </p:cNvPr>
          <p:cNvSpPr>
            <a:spLocks xmlns:a="http://schemas.openxmlformats.org/drawingml/2006/main" noGrp="1"/>
          </p:cNvSpPr>
          <p:nvPr/>
        </p:nvSpPr>
        <p:spPr>
          <a:xfrm xmlns:a="http://schemas.openxmlformats.org/drawingml/2006/main">
            <a:off x="8251825" y="2352675"/>
            <a:ext cx="318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313E"/>
                </a:solidFill>
                <a:latin typeface="Aptos"/>
                <a:ea typeface="Aptos"/>
                <a:cs typeface="Aptos"/>
              </a:defRPr>
            </a:pPr>
            <a:r>
              <a:rPr sz="1725" b="0">
                <a:solidFill>
                  <a:srgbClr val="16313E"/>
                </a:solidFill>
                <a:latin typeface="Aptos"/>
                <a:ea typeface="Aptos"/>
                <a:cs typeface="Aptos"/>
              </a:rPr>
              <a:t>Quarantine scores above cutoff</a:t>
            </a:r>
          </a:p>
        </p:txBody>
      </p:sp>
      <p:graphicFrame>
        <p:nvGraphicFramePr>
          <p:cNvPr id="31" name=""/>
          <p:cNvGraphicFramePr/>
          <p:nvPr/>
        </p:nvGraphicFramePr>
        <p:xfrm>
          <a:off xmlns:a="http://schemas.openxmlformats.org/drawingml/2006/main" x="609600" y="3400425"/>
          <a:ext xmlns:a="http://schemas.openxmlformats.org/drawingml/2006/main" cx="10972800" cy="1885950"/>
        </p:xfrm>
        <a:graphic xmlns:a="http://schemas.openxmlformats.org/drawingml/2006/main">
          <a:graphicData uri="http://schemas.openxmlformats.org/drawingml/2006/table">
            <a:tbl>
              <a:tblPr/>
              <a:tblGrid>
                <a:gridCol w="4000500"/>
                <a:gridCol w="3486150"/>
                <a:gridCol w="3486150"/>
              </a:tblGrid>
              <a:tr h="471488">
                <a:tc>
                  <a:txBody>
                    <a:bodyPr>
                      <a:noAutofit/>
                    </a:bodyPr>
                    <a:lstStyle/>
                    <a:p>
                      <a:r>
                        <a:rPr sz="1800" b="1">
                          <a:solidFill>
                            <a:srgbClr val="FFFFFF"/>
                          </a:solidFill>
                          <a:latin typeface="Aptos"/>
                          <a:ea typeface="Aptos"/>
                          <a:cs typeface="Aptos"/>
                        </a:rPr>
                        <a:t>Replay condition</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Unfiltered accuracy</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Filtered accuracy</a:t>
                      </a:r>
                    </a:p>
                  </a:txBody>
                  <a:tcPr marL="91440" marR="91440" marT="45720" marB="45720">
                    <a:solidFill>
                      <a:srgbClr val="142D3B"/>
                    </a:solidFill>
                  </a:tcPr>
                </a:tc>
              </a:tr>
              <a:tr h="471488">
                <a:tc>
                  <a:txBody>
                    <a:bodyPr>
                      <a:noAutofit/>
                    </a:bodyPr>
                    <a:lstStyle/>
                    <a:p>
                      <a:r>
                        <a:rPr sz="1800" b="1">
                          <a:solidFill>
                            <a:srgbClr val="16313E"/>
                          </a:solidFill>
                          <a:latin typeface="Aptos"/>
                          <a:ea typeface="Aptos"/>
                          <a:cs typeface="Aptos"/>
                        </a:rPr>
                        <a:t>Clean</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78.04%</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81.38%</a:t>
                      </a:r>
                    </a:p>
                  </a:txBody>
                  <a:tcPr marL="91440" marR="91440" marT="45720" marB="45720">
                    <a:solidFill>
                      <a:srgbClr val="FFFFFF"/>
                    </a:solidFill>
                  </a:tcPr>
                </a:tc>
              </a:tr>
              <a:tr h="471488">
                <a:tc>
                  <a:txBody>
                    <a:bodyPr>
                      <a:noAutofit/>
                    </a:bodyPr>
                    <a:lstStyle/>
                    <a:p>
                      <a:r>
                        <a:rPr sz="1800" b="1">
                          <a:solidFill>
                            <a:srgbClr val="16313E"/>
                          </a:solidFill>
                          <a:latin typeface="Aptos"/>
                          <a:ea typeface="Aptos"/>
                          <a:cs typeface="Aptos"/>
                        </a:rPr>
                        <a:t>Random 20% (100/500)</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81.63%</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78.58%</a:t>
                      </a:r>
                    </a:p>
                  </a:txBody>
                  <a:tcPr marL="91440" marR="91440" marT="45720" marB="45720">
                    <a:solidFill>
                      <a:srgbClr val="EDF2F3"/>
                    </a:solidFill>
                  </a:tcPr>
                </a:tc>
              </a:tr>
              <a:tr h="471488">
                <a:tc>
                  <a:txBody>
                    <a:bodyPr>
                      <a:noAutofit/>
                    </a:bodyPr>
                    <a:lstStyle/>
                    <a:p>
                      <a:r>
                        <a:rPr sz="1800" b="1">
                          <a:solidFill>
                            <a:srgbClr val="16313E"/>
                          </a:solidFill>
                          <a:latin typeface="Aptos"/>
                          <a:ea typeface="Aptos"/>
                          <a:cs typeface="Aptos"/>
                        </a:rPr>
                        <a:t>Targeted 20% (80/400)</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81.63%</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82.79%</a:t>
                      </a:r>
                    </a:p>
                  </a:txBody>
                  <a:tcPr marL="91440" marR="91440" marT="45720" marB="45720">
                    <a:solidFill>
                      <a:srgbClr val="FFFFFF"/>
                    </a:solidFill>
                  </a:tcPr>
                </a:tc>
              </a:tr>
            </a:tbl>
          </a:graphicData>
        </a:graphic>
      </p:graphicFrame>
      <p:sp>
        <p:nvSpPr>
          <p:cNvPr id="16" name="All simulated poison labels rejected, but random-poison">
            <a:extLst xmlns:a="http://schemas.openxmlformats.org/drawingml/2006/main">
              <a:ext uri="{FF2B5EF4-FFF2-40B4-BE49-F238E27FC236}">
                <a16:creationId xmlns:a16="http://schemas.microsoft.com/office/drawing/2014/main" id="{7B23D567-44C4-441A-8F5F-67B743DF735C}"/>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All simulated poison labels rejected, but random-poison accuracy fell. Benign FPR remained 90.0–95.3%.</a:t>
            </a:r>
          </a:p>
        </p:txBody>
      </p:sp>
    </p:spTree>
    <p:extLst>
      <p:ext uri="{BB962C8B-B14F-4D97-AF65-F5344CB8AC3E}">
        <p14:creationId xmlns:p14="http://schemas.microsoft.com/office/powerpoint/2010/main" val="1578095366"/>
      </p:ext>
    </p:extLst>
  </p:cSld>
</p:sld>
</file>

<file path=ppt/slides/slide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6" name="VERIFIED EXECUTION · CLEAN REPLAY EXPOSURE">
            <a:extLst xmlns:a="http://schemas.openxmlformats.org/drawingml/2006/main">
              <a:ext uri="{FF2B5EF4-FFF2-40B4-BE49-F238E27FC236}">
                <a16:creationId xmlns:a16="http://schemas.microsoft.com/office/drawing/2014/main" id="{3B665BFA-2FA9-4B2D-BA15-27CEBE69EFBD}"/>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VERIFIED EXECUTION · CLEAN REPLAY EXPOSURE</a:t>
            </a:r>
          </a:p>
        </p:txBody>
      </p:sp>
      <p:sp>
        <p:nvSpPr>
          <p:cNvPr id="2" name="Balanced draws improve retention with tradeoffs">
            <a:extLst xmlns:a="http://schemas.openxmlformats.org/drawingml/2006/main">
              <a:ext uri="{FF2B5EF4-FFF2-40B4-BE49-F238E27FC236}">
                <a16:creationId xmlns:a16="http://schemas.microsoft.com/office/drawing/2014/main" id="{C837900A-287E-4F2F-936B-5F96AAFCC82D}"/>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Balanced draws improve retention with tradeoffs</a:t>
            </a:r>
          </a:p>
        </p:txBody>
      </p:sp>
      <p:sp>
        <p:nvSpPr>
          <p:cNvPr id="3" name="09">
            <a:extLst xmlns:a="http://schemas.openxmlformats.org/drawingml/2006/main">
              <a:ext uri="{FF2B5EF4-FFF2-40B4-BE49-F238E27FC236}">
                <a16:creationId xmlns:a16="http://schemas.microsoft.com/office/drawing/2014/main" id="{FDC16DD5-FB4C-40F2-A23F-0ED85B141C6F}"/>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09</a:t>
            </a:r>
          </a:p>
        </p:txBody>
      </p:sp>
      <p:graphicFrame>
        <p:nvGraphicFramePr>
          <p:cNvPr id="9" name=""/>
          <p:cNvGraphicFramePr/>
          <p:nvPr/>
        </p:nvGraphicFramePr>
        <p:xfrm>
          <a:off xmlns:a="http://schemas.openxmlformats.org/drawingml/2006/main" x="609600" y="1876425"/>
          <a:ext xmlns:a="http://schemas.openxmlformats.org/drawingml/2006/main" cx="10972800" cy="3381375"/>
        </p:xfrm>
        <a:graphic xmlns:a="http://schemas.openxmlformats.org/drawingml/2006/main">
          <a:graphicData uri="http://schemas.openxmlformats.org/drawingml/2006/table">
            <a:tbl>
              <a:tblPr/>
              <a:tblGrid>
                <a:gridCol w="4762500"/>
                <a:gridCol w="3105150"/>
                <a:gridCol w="3105150"/>
              </a:tblGrid>
              <a:tr h="563563">
                <a:tc>
                  <a:txBody>
                    <a:bodyPr>
                      <a:noAutofit/>
                    </a:bodyPr>
                    <a:lstStyle/>
                    <a:p>
                      <a:r>
                        <a:rPr sz="1800" b="1">
                          <a:solidFill>
                            <a:srgbClr val="FFFFFF"/>
                          </a:solidFill>
                          <a:latin typeface="Aptos"/>
                          <a:ea typeface="Aptos"/>
                          <a:cs typeface="Aptos"/>
                        </a:rPr>
                        <a:t>Held-out test metric</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Shuffled draws</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Balanced draws</a:t>
                      </a:r>
                    </a:p>
                  </a:txBody>
                  <a:tcPr marL="91440" marR="91440" marT="45720" marB="45720">
                    <a:solidFill>
                      <a:srgbClr val="142D3B"/>
                    </a:solidFill>
                  </a:tcPr>
                </a:tc>
              </a:tr>
              <a:tr h="563563">
                <a:tc>
                  <a:txBody>
                    <a:bodyPr>
                      <a:noAutofit/>
                    </a:bodyPr>
                    <a:lstStyle/>
                    <a:p>
                      <a:r>
                        <a:rPr sz="1800" b="1">
                          <a:solidFill>
                            <a:srgbClr val="16313E"/>
                          </a:solidFill>
                          <a:latin typeface="Aptos"/>
                          <a:ea typeface="Aptos"/>
                          <a:cs typeface="Aptos"/>
                        </a:rPr>
                        <a:t>Old-class accuracy</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68.27%</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83.53%</a:t>
                      </a:r>
                    </a:p>
                  </a:txBody>
                  <a:tcPr marL="91440" marR="91440" marT="45720" marB="45720">
                    <a:solidFill>
                      <a:srgbClr val="FFFFFF"/>
                    </a:solidFill>
                  </a:tcPr>
                </a:tc>
              </a:tr>
              <a:tr h="563563">
                <a:tc>
                  <a:txBody>
                    <a:bodyPr>
                      <a:noAutofit/>
                    </a:bodyPr>
                    <a:lstStyle/>
                    <a:p>
                      <a:r>
                        <a:rPr sz="1800" b="1">
                          <a:solidFill>
                            <a:srgbClr val="16313E"/>
                          </a:solidFill>
                          <a:latin typeface="Aptos"/>
                          <a:ea typeface="Aptos"/>
                          <a:cs typeface="Aptos"/>
                        </a:rPr>
                        <a:t>New-class accuracy</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94.33%</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87.67%</a:t>
                      </a:r>
                    </a:p>
                  </a:txBody>
                  <a:tcPr marL="91440" marR="91440" marT="45720" marB="45720">
                    <a:solidFill>
                      <a:srgbClr val="EDF2F3"/>
                    </a:solidFill>
                  </a:tcPr>
                </a:tc>
              </a:tr>
              <a:tr h="563563">
                <a:tc>
                  <a:txBody>
                    <a:bodyPr>
                      <a:noAutofit/>
                    </a:bodyPr>
                    <a:lstStyle/>
                    <a:p>
                      <a:r>
                        <a:rPr sz="1800" b="1">
                          <a:solidFill>
                            <a:srgbClr val="16313E"/>
                          </a:solidFill>
                          <a:latin typeface="Aptos"/>
                          <a:ea typeface="Aptos"/>
                          <a:cs typeface="Aptos"/>
                        </a:rPr>
                        <a:t>Combined accuracy</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78.04%</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85.08%</a:t>
                      </a:r>
                    </a:p>
                  </a:txBody>
                  <a:tcPr marL="91440" marR="91440" marT="45720" marB="45720">
                    <a:solidFill>
                      <a:srgbClr val="FFFFFF"/>
                    </a:solidFill>
                  </a:tcPr>
                </a:tc>
              </a:tr>
              <a:tr h="563563">
                <a:tc>
                  <a:txBody>
                    <a:bodyPr>
                      <a:noAutofit/>
                    </a:bodyPr>
                    <a:lstStyle/>
                    <a:p>
                      <a:r>
                        <a:rPr sz="1800" b="1">
                          <a:solidFill>
                            <a:srgbClr val="16313E"/>
                          </a:solidFill>
                          <a:latin typeface="Aptos"/>
                          <a:ea typeface="Aptos"/>
                          <a:cs typeface="Aptos"/>
                        </a:rPr>
                        <a:t>Accuracy forgetting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28.60 pp</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13.33 pp</a:t>
                      </a:r>
                    </a:p>
                  </a:txBody>
                  <a:tcPr marL="91440" marR="91440" marT="45720" marB="45720">
                    <a:solidFill>
                      <a:srgbClr val="EDF2F3"/>
                    </a:solidFill>
                  </a:tcPr>
                </a:tc>
              </a:tr>
              <a:tr h="563563">
                <a:tc>
                  <a:txBody>
                    <a:bodyPr>
                      <a:noAutofit/>
                    </a:bodyPr>
                    <a:lstStyle/>
                    <a:p>
                      <a:r>
                        <a:rPr sz="1800" b="1">
                          <a:solidFill>
                            <a:srgbClr val="16313E"/>
                          </a:solidFill>
                          <a:latin typeface="Aptos"/>
                          <a:ea typeface="Aptos"/>
                          <a:cs typeface="Aptos"/>
                        </a:rPr>
                        <a:t>Benign FPR</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93.67%</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61.67%</a:t>
                      </a:r>
                    </a:p>
                  </a:txBody>
                  <a:tcPr marL="91440" marR="91440" marT="45720" marB="45720">
                    <a:solidFill>
                      <a:srgbClr val="FFFFFF"/>
                    </a:solidFill>
                  </a:tcPr>
                </a:tc>
              </a:tr>
            </a:tbl>
          </a:graphicData>
        </a:graphic>
      </p:graphicFrame>
      <p:sp>
        <p:nvSpPr>
          <p:cNvPr id="5" name="Same 500 unique replay rows. Validation selected balanc">
            <a:extLst xmlns:a="http://schemas.openxmlformats.org/drawingml/2006/main">
              <a:ext uri="{FF2B5EF4-FFF2-40B4-BE49-F238E27FC236}">
                <a16:creationId xmlns:a16="http://schemas.microsoft.com/office/drawing/2014/main" id="{21F265ED-7518-48A3-AFCE-D8C62183663C}"/>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Same 500 unique replay rows. Validation selected balanced draws. Training work differed: 444 vs 370 steps.</a:t>
            </a:r>
          </a:p>
        </p:txBody>
      </p:sp>
    </p:spTree>
    <p:extLst>
      <p:ext uri="{BB962C8B-B14F-4D97-AF65-F5344CB8AC3E}">
        <p14:creationId xmlns:p14="http://schemas.microsoft.com/office/powerpoint/2010/main" val="390803221"/>
      </p:ext>
    </p:extLst>
  </p:cSld>
</p:sld>
</file>

<file path=ppt/slides/slide1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5" name="VERIFIED EXECUTION · BEFORE HEAD EXPANSION">
            <a:extLst xmlns:a="http://schemas.openxmlformats.org/drawingml/2006/main">
              <a:ext uri="{FF2B5EF4-FFF2-40B4-BE49-F238E27FC236}">
                <a16:creationId xmlns:a16="http://schemas.microsoft.com/office/drawing/2014/main" id="{A1BA1552-744B-41D2-8DF5-70604257C649}"/>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VERIFIED EXECUTION · BEFORE HEAD EXPANSION</a:t>
            </a:r>
          </a:p>
        </p:txBody>
      </p:sp>
      <p:sp>
        <p:nvSpPr>
          <p:cNvPr id="2" name="Held-out novelty recall remains weak">
            <a:extLst xmlns:a="http://schemas.openxmlformats.org/drawingml/2006/main">
              <a:ext uri="{FF2B5EF4-FFF2-40B4-BE49-F238E27FC236}">
                <a16:creationId xmlns:a16="http://schemas.microsoft.com/office/drawing/2014/main" id="{6A2C799B-589C-4AE4-A1CA-5AD41774AD3A}"/>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Held-out novelty recall remains weak</a:t>
            </a:r>
          </a:p>
        </p:txBody>
      </p:sp>
      <p:sp>
        <p:nvSpPr>
          <p:cNvPr id="3" name="10">
            <a:extLst xmlns:a="http://schemas.openxmlformats.org/drawingml/2006/main">
              <a:ext uri="{FF2B5EF4-FFF2-40B4-BE49-F238E27FC236}">
                <a16:creationId xmlns:a16="http://schemas.microsoft.com/office/drawing/2014/main" id="{0602561F-6D6B-4027-8DE3-8CBF21AEFB29}"/>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10</a:t>
            </a:r>
          </a:p>
        </p:txBody>
      </p:sp>
      <p:sp>
        <p:nvSpPr>
          <p:cNvPr id="4" name="18.89%">
            <a:extLst xmlns:a="http://schemas.openxmlformats.org/drawingml/2006/main">
              <a:ext uri="{FF2B5EF4-FFF2-40B4-BE49-F238E27FC236}">
                <a16:creationId xmlns:a16="http://schemas.microsoft.com/office/drawing/2014/main" id="{74B0298F-AC32-49B1-915C-8EED83444267}"/>
              </a:ext>
            </a:extLst>
          </p:cNvPr>
          <p:cNvSpPr>
            <a:spLocks xmlns:a="http://schemas.openxmlformats.org/drawingml/2006/main" noGrp="1"/>
          </p:cNvSpPr>
          <p:nvPr/>
        </p:nvSpPr>
        <p:spPr>
          <a:xfrm xmlns:a="http://schemas.openxmlformats.org/drawingml/2006/main">
            <a:off x="609600"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6D77"/>
                </a:solidFill>
                <a:latin typeface="Aptos"/>
                <a:ea typeface="Aptos"/>
                <a:cs typeface="Aptos"/>
              </a:defRPr>
            </a:pPr>
            <a:r>
              <a:rPr sz="4350" b="1">
                <a:solidFill>
                  <a:srgbClr val="006D77"/>
                </a:solidFill>
                <a:latin typeface="Aptos"/>
                <a:ea typeface="Aptos"/>
                <a:cs typeface="Aptos"/>
              </a:rPr>
              <a:t>18.89%</a:t>
            </a:r>
          </a:p>
        </p:txBody>
      </p:sp>
      <p:sp>
        <p:nvSpPr>
          <p:cNvPr id="5" name="Unknown recall, 170 / 900">
            <a:extLst xmlns:a="http://schemas.openxmlformats.org/drawingml/2006/main">
              <a:ext uri="{FF2B5EF4-FFF2-40B4-BE49-F238E27FC236}">
                <a16:creationId xmlns:a16="http://schemas.microsoft.com/office/drawing/2014/main" id="{A7D64DBC-43C1-41EE-8B12-1A1C323BBC8D}"/>
              </a:ext>
            </a:extLst>
          </p:cNvPr>
          <p:cNvSpPr>
            <a:spLocks xmlns:a="http://schemas.openxmlformats.org/drawingml/2006/main" noGrp="1"/>
          </p:cNvSpPr>
          <p:nvPr/>
        </p:nvSpPr>
        <p:spPr>
          <a:xfrm xmlns:a="http://schemas.openxmlformats.org/drawingml/2006/main">
            <a:off x="609600"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Unknown recall, 170 / 900</a:t>
            </a:r>
          </a:p>
        </p:txBody>
      </p:sp>
      <p:sp>
        <p:nvSpPr>
          <p:cNvPr id="6" name="4.53%">
            <a:extLst xmlns:a="http://schemas.openxmlformats.org/drawingml/2006/main">
              <a:ext uri="{FF2B5EF4-FFF2-40B4-BE49-F238E27FC236}">
                <a16:creationId xmlns:a16="http://schemas.microsoft.com/office/drawing/2014/main" id="{06576CBA-11AB-470A-8A3F-3BE73CEA784A}"/>
              </a:ext>
            </a:extLst>
          </p:cNvPr>
          <p:cNvSpPr>
            <a:spLocks xmlns:a="http://schemas.openxmlformats.org/drawingml/2006/main" noGrp="1"/>
          </p:cNvSpPr>
          <p:nvPr/>
        </p:nvSpPr>
        <p:spPr>
          <a:xfrm xmlns:a="http://schemas.openxmlformats.org/drawingml/2006/main">
            <a:off x="4352925"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6D77"/>
                </a:solidFill>
                <a:latin typeface="Aptos"/>
                <a:ea typeface="Aptos"/>
                <a:cs typeface="Aptos"/>
              </a:defRPr>
            </a:pPr>
            <a:r>
              <a:rPr sz="4350" b="1">
                <a:solidFill>
                  <a:srgbClr val="006D77"/>
                </a:solidFill>
                <a:latin typeface="Aptos"/>
                <a:ea typeface="Aptos"/>
                <a:cs typeface="Aptos"/>
              </a:rPr>
              <a:t>4.53%</a:t>
            </a:r>
          </a:p>
        </p:txBody>
      </p:sp>
      <p:sp>
        <p:nvSpPr>
          <p:cNvPr id="7" name="Known false rejection, 68 / 1,500">
            <a:extLst xmlns:a="http://schemas.openxmlformats.org/drawingml/2006/main">
              <a:ext uri="{FF2B5EF4-FFF2-40B4-BE49-F238E27FC236}">
                <a16:creationId xmlns:a16="http://schemas.microsoft.com/office/drawing/2014/main" id="{2E75D7FB-2650-40CD-9018-0DA00639AE09}"/>
              </a:ext>
            </a:extLst>
          </p:cNvPr>
          <p:cNvSpPr>
            <a:spLocks xmlns:a="http://schemas.openxmlformats.org/drawingml/2006/main" noGrp="1"/>
          </p:cNvSpPr>
          <p:nvPr/>
        </p:nvSpPr>
        <p:spPr>
          <a:xfrm xmlns:a="http://schemas.openxmlformats.org/drawingml/2006/main">
            <a:off x="4352925"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Known false rejection, 68 / 1,500</a:t>
            </a:r>
          </a:p>
        </p:txBody>
      </p:sp>
      <p:sp>
        <p:nvSpPr>
          <p:cNvPr id="8" name="71.43%">
            <a:extLst xmlns:a="http://schemas.openxmlformats.org/drawingml/2006/main">
              <a:ext uri="{FF2B5EF4-FFF2-40B4-BE49-F238E27FC236}">
                <a16:creationId xmlns:a16="http://schemas.microsoft.com/office/drawing/2014/main" id="{BE7652D4-2759-4165-B9ED-5F82B6501F5F}"/>
              </a:ext>
            </a:extLst>
          </p:cNvPr>
          <p:cNvSpPr>
            <a:spLocks xmlns:a="http://schemas.openxmlformats.org/drawingml/2006/main" noGrp="1"/>
          </p:cNvSpPr>
          <p:nvPr/>
        </p:nvSpPr>
        <p:spPr>
          <a:xfrm xmlns:a="http://schemas.openxmlformats.org/drawingml/2006/main">
            <a:off x="8096250"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A4442D"/>
                </a:solidFill>
                <a:latin typeface="Aptos"/>
                <a:ea typeface="Aptos"/>
                <a:cs typeface="Aptos"/>
              </a:defRPr>
            </a:pPr>
            <a:r>
              <a:rPr sz="4350" b="1">
                <a:solidFill>
                  <a:srgbClr val="A4442D"/>
                </a:solidFill>
                <a:latin typeface="Aptos"/>
                <a:ea typeface="Aptos"/>
                <a:cs typeface="Aptos"/>
              </a:rPr>
              <a:t>71.43%</a:t>
            </a:r>
          </a:p>
        </p:txBody>
      </p:sp>
      <p:sp>
        <p:nvSpPr>
          <p:cNvPr id="9" name="Unknown precision">
            <a:extLst xmlns:a="http://schemas.openxmlformats.org/drawingml/2006/main">
              <a:ext uri="{FF2B5EF4-FFF2-40B4-BE49-F238E27FC236}">
                <a16:creationId xmlns:a16="http://schemas.microsoft.com/office/drawing/2014/main" id="{732EB6B4-E388-4B5A-AEC7-8590E3C08DC5}"/>
              </a:ext>
            </a:extLst>
          </p:cNvPr>
          <p:cNvSpPr>
            <a:spLocks xmlns:a="http://schemas.openxmlformats.org/drawingml/2006/main" noGrp="1"/>
          </p:cNvSpPr>
          <p:nvPr/>
        </p:nvSpPr>
        <p:spPr>
          <a:xfrm xmlns:a="http://schemas.openxmlformats.org/drawingml/2006/main">
            <a:off x="8096250"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Unknown precision</a:t>
            </a:r>
          </a:p>
        </p:txBody>
      </p:sp>
      <p:sp>
        <p:nvSpPr>
          <p:cNvPr id="10" name="Protocol">
            <a:extLst xmlns:a="http://schemas.openxmlformats.org/drawingml/2006/main">
              <a:ext uri="{FF2B5EF4-FFF2-40B4-BE49-F238E27FC236}">
                <a16:creationId xmlns:a16="http://schemas.microsoft.com/office/drawing/2014/main" id="{BF2506AE-D2E0-496B-85AF-BBF3980C6EF0}"/>
              </a:ext>
            </a:extLst>
          </p:cNvPr>
          <p:cNvSpPr>
            <a:spLocks xmlns:a="http://schemas.openxmlformats.org/drawingml/2006/main" noGrp="1"/>
          </p:cNvSpPr>
          <p:nvPr/>
        </p:nvSpPr>
        <p:spPr>
          <a:xfrm xmlns:a="http://schemas.openxmlformats.org/drawingml/2006/main">
            <a:off x="609600" y="36385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Protocol</a:t>
            </a:r>
          </a:p>
        </p:txBody>
      </p:sp>
      <p:sp>
        <p:nvSpPr>
          <p:cNvPr id="11" name="Task 1 classes known, Task 2 held out&#10;Flag unknown if m">
            <a:extLst xmlns:a="http://schemas.openxmlformats.org/drawingml/2006/main">
              <a:ext uri="{FF2B5EF4-FFF2-40B4-BE49-F238E27FC236}">
                <a16:creationId xmlns:a16="http://schemas.microsoft.com/office/drawing/2014/main" id="{AB102957-BB29-4692-83B5-DD16AB26CE64}"/>
              </a:ext>
            </a:extLst>
          </p:cNvPr>
          <p:cNvSpPr>
            <a:spLocks xmlns:a="http://schemas.openxmlformats.org/drawingml/2006/main" noGrp="1"/>
          </p:cNvSpPr>
          <p:nvPr/>
        </p:nvSpPr>
        <p:spPr>
          <a:xfrm xmlns:a="http://schemas.openxmlformats.org/drawingml/2006/main">
            <a:off x="609600" y="4162425"/>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Task 1 classes known, Task 2 held out</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Flag unknown if max probability &lt; 0.9248</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Cutoff: fifth percentile of known validation</a:t>
            </a:r>
          </a:p>
        </p:txBody>
      </p:sp>
      <p:sp>
        <p:nvSpPr>
          <p:cNvPr id="12" name="Recall by held-out class">
            <a:extLst xmlns:a="http://schemas.openxmlformats.org/drawingml/2006/main">
              <a:ext uri="{FF2B5EF4-FFF2-40B4-BE49-F238E27FC236}">
                <a16:creationId xmlns:a16="http://schemas.microsoft.com/office/drawing/2014/main" id="{01424F46-6925-4C76-BFC8-8555AF465395}"/>
              </a:ext>
            </a:extLst>
          </p:cNvPr>
          <p:cNvSpPr>
            <a:spLocks xmlns:a="http://schemas.openxmlformats.org/drawingml/2006/main" noGrp="1"/>
          </p:cNvSpPr>
          <p:nvPr/>
        </p:nvSpPr>
        <p:spPr>
          <a:xfrm xmlns:a="http://schemas.openxmlformats.org/drawingml/2006/main">
            <a:off x="6400800" y="36385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Recall by held-out class</a:t>
            </a:r>
          </a:p>
        </p:txBody>
      </p:sp>
      <p:sp>
        <p:nvSpPr>
          <p:cNvPr id="13" name="Infiltration: 11.00%&#10;Webattack: 10.33%&#10;Portscan: 35.33%">
            <a:extLst xmlns:a="http://schemas.openxmlformats.org/drawingml/2006/main">
              <a:ext uri="{FF2B5EF4-FFF2-40B4-BE49-F238E27FC236}">
                <a16:creationId xmlns:a16="http://schemas.microsoft.com/office/drawing/2014/main" id="{03C166DE-7637-41A8-8218-00B2E271B728}"/>
              </a:ext>
            </a:extLst>
          </p:cNvPr>
          <p:cNvSpPr>
            <a:spLocks xmlns:a="http://schemas.openxmlformats.org/drawingml/2006/main" noGrp="1"/>
          </p:cNvSpPr>
          <p:nvPr/>
        </p:nvSpPr>
        <p:spPr>
          <a:xfrm xmlns:a="http://schemas.openxmlformats.org/drawingml/2006/main">
            <a:off x="6400800" y="41624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Infiltration: 11.00%</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Webattack: 10.33%</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Portscan: 35.33%</a:t>
            </a:r>
          </a:p>
        </p:txBody>
      </p:sp>
      <p:sp>
        <p:nvSpPr>
          <p:cNvPr id="14" name="730 of 900 unknown examples were missed. Many unseen fl">
            <a:extLst xmlns:a="http://schemas.openxmlformats.org/drawingml/2006/main">
              <a:ext uri="{FF2B5EF4-FFF2-40B4-BE49-F238E27FC236}">
                <a16:creationId xmlns:a16="http://schemas.microsoft.com/office/drawing/2014/main" id="{0EED89C8-8A53-4EFF-B910-EB3250344E37}"/>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730 of 900 unknown examples were missed. Many unseen flows still receive high confidence.</a:t>
            </a:r>
          </a:p>
        </p:txBody>
      </p:sp>
    </p:spTree>
    <p:extLst>
      <p:ext uri="{BB962C8B-B14F-4D97-AF65-F5344CB8AC3E}">
        <p14:creationId xmlns:p14="http://schemas.microsoft.com/office/powerpoint/2010/main" val="2029102434"/>
      </p:ext>
    </p:extLst>
  </p:cSld>
</p:sld>
</file>

<file path=ppt/slides/slide1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5" name="VERIFIED PREPARATION · TRAINING IN PROGRESS">
            <a:extLst xmlns:a="http://schemas.openxmlformats.org/drawingml/2006/main">
              <a:ext uri="{FF2B5EF4-FFF2-40B4-BE49-F238E27FC236}">
                <a16:creationId xmlns:a16="http://schemas.microsoft.com/office/drawing/2014/main" id="{CA977119-19C0-4A7C-9348-3C4AD55809FC}"/>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VERIFIED PREPARATION · TRAINING IN PROGRESS</a:t>
            </a:r>
          </a:p>
        </p:txBody>
      </p:sp>
      <p:sp>
        <p:nvSpPr>
          <p:cNvPr id="2" name="Full-data preparation is complete">
            <a:extLst xmlns:a="http://schemas.openxmlformats.org/drawingml/2006/main">
              <a:ext uri="{FF2B5EF4-FFF2-40B4-BE49-F238E27FC236}">
                <a16:creationId xmlns:a16="http://schemas.microsoft.com/office/drawing/2014/main" id="{35FAAFC5-CE6E-4677-AB8F-56827896A419}"/>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Full-data preparation is complete</a:t>
            </a:r>
          </a:p>
        </p:txBody>
      </p:sp>
      <p:sp>
        <p:nvSpPr>
          <p:cNvPr id="3" name="11">
            <a:extLst xmlns:a="http://schemas.openxmlformats.org/drawingml/2006/main">
              <a:ext uri="{FF2B5EF4-FFF2-40B4-BE49-F238E27FC236}">
                <a16:creationId xmlns:a16="http://schemas.microsoft.com/office/drawing/2014/main" id="{E7D152EB-8B7B-4B26-9CAC-0370DA12AE91}"/>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11</a:t>
            </a:r>
          </a:p>
        </p:txBody>
      </p:sp>
      <p:sp>
        <p:nvSpPr>
          <p:cNvPr id="4" name="6,417,308">
            <a:extLst xmlns:a="http://schemas.openxmlformats.org/drawingml/2006/main">
              <a:ext uri="{FF2B5EF4-FFF2-40B4-BE49-F238E27FC236}">
                <a16:creationId xmlns:a16="http://schemas.microsoft.com/office/drawing/2014/main" id="{9A77FEC0-0BFC-4867-AA65-94D82324B924}"/>
              </a:ext>
            </a:extLst>
          </p:cNvPr>
          <p:cNvSpPr>
            <a:spLocks xmlns:a="http://schemas.openxmlformats.org/drawingml/2006/main" noGrp="1"/>
          </p:cNvSpPr>
          <p:nvPr/>
        </p:nvSpPr>
        <p:spPr>
          <a:xfrm xmlns:a="http://schemas.openxmlformats.org/drawingml/2006/main">
            <a:off x="609600"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6D77"/>
                </a:solidFill>
                <a:latin typeface="Aptos"/>
                <a:ea typeface="Aptos"/>
                <a:cs typeface="Aptos"/>
              </a:defRPr>
            </a:pPr>
            <a:r>
              <a:rPr sz="4350" b="1">
                <a:solidFill>
                  <a:srgbClr val="006D77"/>
                </a:solidFill>
                <a:latin typeface="Aptos"/>
                <a:ea typeface="Aptos"/>
                <a:cs typeface="Aptos"/>
              </a:rPr>
              <a:t>6,417,308</a:t>
            </a:r>
          </a:p>
        </p:txBody>
      </p:sp>
      <p:sp>
        <p:nvSpPr>
          <p:cNvPr id="5" name="Training rows">
            <a:extLst xmlns:a="http://schemas.openxmlformats.org/drawingml/2006/main">
              <a:ext uri="{FF2B5EF4-FFF2-40B4-BE49-F238E27FC236}">
                <a16:creationId xmlns:a16="http://schemas.microsoft.com/office/drawing/2014/main" id="{76F3A62D-0BC1-4EC6-808F-87ED1783D03C}"/>
              </a:ext>
            </a:extLst>
          </p:cNvPr>
          <p:cNvSpPr>
            <a:spLocks xmlns:a="http://schemas.openxmlformats.org/drawingml/2006/main" noGrp="1"/>
          </p:cNvSpPr>
          <p:nvPr/>
        </p:nvSpPr>
        <p:spPr>
          <a:xfrm xmlns:a="http://schemas.openxmlformats.org/drawingml/2006/main">
            <a:off x="609600"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Training rows</a:t>
            </a:r>
          </a:p>
        </p:txBody>
      </p:sp>
      <p:sp>
        <p:nvSpPr>
          <p:cNvPr id="6" name="1,375,139">
            <a:extLst xmlns:a="http://schemas.openxmlformats.org/drawingml/2006/main">
              <a:ext uri="{FF2B5EF4-FFF2-40B4-BE49-F238E27FC236}">
                <a16:creationId xmlns:a16="http://schemas.microsoft.com/office/drawing/2014/main" id="{993BD112-45B2-451A-87D8-EC42578BE954}"/>
              </a:ext>
            </a:extLst>
          </p:cNvPr>
          <p:cNvSpPr>
            <a:spLocks xmlns:a="http://schemas.openxmlformats.org/drawingml/2006/main" noGrp="1"/>
          </p:cNvSpPr>
          <p:nvPr/>
        </p:nvSpPr>
        <p:spPr>
          <a:xfrm xmlns:a="http://schemas.openxmlformats.org/drawingml/2006/main">
            <a:off x="4352925"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6D77"/>
                </a:solidFill>
                <a:latin typeface="Aptos"/>
                <a:ea typeface="Aptos"/>
                <a:cs typeface="Aptos"/>
              </a:defRPr>
            </a:pPr>
            <a:r>
              <a:rPr sz="4350" b="1">
                <a:solidFill>
                  <a:srgbClr val="006D77"/>
                </a:solidFill>
                <a:latin typeface="Aptos"/>
                <a:ea typeface="Aptos"/>
                <a:cs typeface="Aptos"/>
              </a:rPr>
              <a:t>1,375,139</a:t>
            </a:r>
          </a:p>
        </p:txBody>
      </p:sp>
      <p:sp>
        <p:nvSpPr>
          <p:cNvPr id="7" name="Validation rows">
            <a:extLst xmlns:a="http://schemas.openxmlformats.org/drawingml/2006/main">
              <a:ext uri="{FF2B5EF4-FFF2-40B4-BE49-F238E27FC236}">
                <a16:creationId xmlns:a16="http://schemas.microsoft.com/office/drawing/2014/main" id="{FD4BDB1A-B359-46B8-AA04-C92E3CEE01FD}"/>
              </a:ext>
            </a:extLst>
          </p:cNvPr>
          <p:cNvSpPr>
            <a:spLocks xmlns:a="http://schemas.openxmlformats.org/drawingml/2006/main" noGrp="1"/>
          </p:cNvSpPr>
          <p:nvPr/>
        </p:nvSpPr>
        <p:spPr>
          <a:xfrm xmlns:a="http://schemas.openxmlformats.org/drawingml/2006/main">
            <a:off x="4352925"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Validation rows</a:t>
            </a:r>
          </a:p>
        </p:txBody>
      </p:sp>
      <p:sp>
        <p:nvSpPr>
          <p:cNvPr id="8" name="1,375,134">
            <a:extLst xmlns:a="http://schemas.openxmlformats.org/drawingml/2006/main">
              <a:ext uri="{FF2B5EF4-FFF2-40B4-BE49-F238E27FC236}">
                <a16:creationId xmlns:a16="http://schemas.microsoft.com/office/drawing/2014/main" id="{295A3F39-8EDC-4478-8C03-6F3EDBDD4A0E}"/>
              </a:ext>
            </a:extLst>
          </p:cNvPr>
          <p:cNvSpPr>
            <a:spLocks xmlns:a="http://schemas.openxmlformats.org/drawingml/2006/main" noGrp="1"/>
          </p:cNvSpPr>
          <p:nvPr/>
        </p:nvSpPr>
        <p:spPr>
          <a:xfrm xmlns:a="http://schemas.openxmlformats.org/drawingml/2006/main">
            <a:off x="8096250" y="1838325"/>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A4442D"/>
                </a:solidFill>
                <a:latin typeface="Aptos"/>
                <a:ea typeface="Aptos"/>
                <a:cs typeface="Aptos"/>
              </a:defRPr>
            </a:pPr>
            <a:r>
              <a:rPr sz="4350" b="1">
                <a:solidFill>
                  <a:srgbClr val="A4442D"/>
                </a:solidFill>
                <a:latin typeface="Aptos"/>
                <a:ea typeface="Aptos"/>
                <a:cs typeface="Aptos"/>
              </a:rPr>
              <a:t>1,375,134</a:t>
            </a:r>
          </a:p>
        </p:txBody>
      </p:sp>
      <p:sp>
        <p:nvSpPr>
          <p:cNvPr id="9" name="Test rows">
            <a:extLst xmlns:a="http://schemas.openxmlformats.org/drawingml/2006/main">
              <a:ext uri="{FF2B5EF4-FFF2-40B4-BE49-F238E27FC236}">
                <a16:creationId xmlns:a16="http://schemas.microsoft.com/office/drawing/2014/main" id="{54C1AB84-79C7-46B7-BB96-F9497C160784}"/>
              </a:ext>
            </a:extLst>
          </p:cNvPr>
          <p:cNvSpPr>
            <a:spLocks xmlns:a="http://schemas.openxmlformats.org/drawingml/2006/main" noGrp="1"/>
          </p:cNvSpPr>
          <p:nvPr/>
        </p:nvSpPr>
        <p:spPr>
          <a:xfrm xmlns:a="http://schemas.openxmlformats.org/drawingml/2006/main">
            <a:off x="8096250" y="2743200"/>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3"/>
                </a:solidFill>
                <a:latin typeface="Aptos"/>
                <a:ea typeface="Aptos"/>
                <a:cs typeface="Aptos"/>
              </a:defRPr>
            </a:pPr>
            <a:r>
              <a:rPr sz="1725" b="0">
                <a:solidFill>
                  <a:srgbClr val="566773"/>
                </a:solidFill>
                <a:latin typeface="Aptos"/>
                <a:ea typeface="Aptos"/>
                <a:cs typeface="Aptos"/>
              </a:rPr>
              <a:t>Test rows</a:t>
            </a:r>
          </a:p>
        </p:txBody>
      </p:sp>
      <p:sp>
        <p:nvSpPr>
          <p:cNvPr id="10" name="Bounded-memory data path">
            <a:extLst xmlns:a="http://schemas.openxmlformats.org/drawingml/2006/main">
              <a:ext uri="{FF2B5EF4-FFF2-40B4-BE49-F238E27FC236}">
                <a16:creationId xmlns:a16="http://schemas.microsoft.com/office/drawing/2014/main" id="{57D919EF-3DDD-4B41-8F76-AECE19AEBE0D}"/>
              </a:ext>
            </a:extLst>
          </p:cNvPr>
          <p:cNvSpPr>
            <a:spLocks xmlns:a="http://schemas.openxmlformats.org/drawingml/2006/main" noGrp="1"/>
          </p:cNvSpPr>
          <p:nvPr/>
        </p:nvSpPr>
        <p:spPr>
          <a:xfrm xmlns:a="http://schemas.openxmlformats.org/drawingml/2006/main">
            <a:off x="609600" y="36385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Bounded-memory data path</a:t>
            </a:r>
          </a:p>
        </p:txBody>
      </p:sp>
      <p:sp>
        <p:nvSpPr>
          <p:cNvPr id="11" name="54-feature float32 store on disk&#10;Separate static and Ta">
            <a:extLst xmlns:a="http://schemas.openxmlformats.org/drawingml/2006/main">
              <a:ext uri="{FF2B5EF4-FFF2-40B4-BE49-F238E27FC236}">
                <a16:creationId xmlns:a16="http://schemas.microsoft.com/office/drawing/2014/main" id="{685F7483-B187-43F8-B56D-85B105C99BFF}"/>
              </a:ext>
            </a:extLst>
          </p:cNvPr>
          <p:cNvSpPr>
            <a:spLocks xmlns:a="http://schemas.openxmlformats.org/drawingml/2006/main" noGrp="1"/>
          </p:cNvSpPr>
          <p:nvPr/>
        </p:nvSpPr>
        <p:spPr>
          <a:xfrm xmlns:a="http://schemas.openxmlformats.org/drawingml/2006/main">
            <a:off x="609600" y="4162425"/>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54-feature float32 store on disk</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Separate static and Task 1 fit states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200,000-row median reservoir per scope</a:t>
            </a:r>
          </a:p>
        </p:txBody>
      </p:sp>
      <p:sp>
        <p:nvSpPr>
          <p:cNvPr id="12" name="Full clean run configuration">
            <a:extLst xmlns:a="http://schemas.openxmlformats.org/drawingml/2006/main">
              <a:ext uri="{FF2B5EF4-FFF2-40B4-BE49-F238E27FC236}">
                <a16:creationId xmlns:a16="http://schemas.microsoft.com/office/drawing/2014/main" id="{D2724815-1829-4F12-B351-819745A2AEEF}"/>
              </a:ext>
            </a:extLst>
          </p:cNvPr>
          <p:cNvSpPr>
            <a:spLocks xmlns:a="http://schemas.openxmlformats.org/drawingml/2006/main" noGrp="1"/>
          </p:cNvSpPr>
          <p:nvPr/>
        </p:nvSpPr>
        <p:spPr>
          <a:xfrm xmlns:a="http://schemas.openxmlformats.org/drawingml/2006/main">
            <a:off x="6400800" y="36385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Full clean run configuration</a:t>
            </a:r>
          </a:p>
        </p:txBody>
      </p:sp>
      <p:sp>
        <p:nvSpPr>
          <p:cNvPr id="13" name="All training rows, natural shuffled order&#10;Batch 256, at">
            <a:extLst xmlns:a="http://schemas.openxmlformats.org/drawingml/2006/main">
              <a:ext uri="{FF2B5EF4-FFF2-40B4-BE49-F238E27FC236}">
                <a16:creationId xmlns:a16="http://schemas.microsoft.com/office/drawing/2014/main" id="{36B95E1D-26CA-491C-8745-3063C8C4864F}"/>
              </a:ext>
            </a:extLst>
          </p:cNvPr>
          <p:cNvSpPr>
            <a:spLocks xmlns:a="http://schemas.openxmlformats.org/drawingml/2006/main" noGrp="1"/>
          </p:cNvSpPr>
          <p:nvPr/>
        </p:nvSpPr>
        <p:spPr>
          <a:xfrm xmlns:a="http://schemas.openxmlformats.org/drawingml/2006/main">
            <a:off x="6400800" y="41624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All training rows, natural shuffled order</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Batch 256, at most 20 epochs, patience 5</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Best validation loss, then one full test pass</a:t>
            </a:r>
          </a:p>
        </p:txBody>
      </p:sp>
      <p:sp>
        <p:nvSpPr>
          <p:cNvPr id="14" name="User-reported epoch 1 validation accuracy: 97.41%. Fina">
            <a:extLst xmlns:a="http://schemas.openxmlformats.org/drawingml/2006/main">
              <a:ext uri="{FF2B5EF4-FFF2-40B4-BE49-F238E27FC236}">
                <a16:creationId xmlns:a16="http://schemas.microsoft.com/office/drawing/2014/main" id="{A9E605D8-7C7C-4C17-803A-A5B7F970C85F}"/>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User-reported epoch 1 validation accuracy: 97.41%. Final test artifacts are still pending.</a:t>
            </a:r>
          </a:p>
        </p:txBody>
      </p:sp>
    </p:spTree>
    <p:extLst>
      <p:ext uri="{BB962C8B-B14F-4D97-AF65-F5344CB8AC3E}">
        <p14:creationId xmlns:p14="http://schemas.microsoft.com/office/powerpoint/2010/main" val="1370684027"/>
      </p:ext>
    </p:extLst>
  </p:cSld>
</p:sld>
</file>

<file path=ppt/slides/slide1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5" name="PENDING · FINAL CLEAN RUN ARTIFACTS">
            <a:extLst xmlns:a="http://schemas.openxmlformats.org/drawingml/2006/main">
              <a:ext uri="{FF2B5EF4-FFF2-40B4-BE49-F238E27FC236}">
                <a16:creationId xmlns:a16="http://schemas.microsoft.com/office/drawing/2014/main" id="{E0D83B58-049E-47C4-BA34-C256F0C2A95C}"/>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4442D"/>
                </a:solidFill>
                <a:latin typeface="Aptos"/>
                <a:ea typeface="Aptos"/>
                <a:cs typeface="Aptos"/>
              </a:defRPr>
            </a:pPr>
            <a:r>
              <a:rPr sz="1350" b="1">
                <a:solidFill>
                  <a:srgbClr val="A4442D"/>
                </a:solidFill>
                <a:latin typeface="Aptos"/>
                <a:ea typeface="Aptos"/>
                <a:cs typeface="Aptos"/>
              </a:rPr>
              <a:t>PENDING · FINAL CLEAN RUN ARTIFACTS</a:t>
            </a:r>
          </a:p>
        </p:txBody>
      </p:sp>
      <p:sp>
        <p:nvSpPr>
          <p:cNvPr id="2" name="Full-data learning and error analysis">
            <a:extLst xmlns:a="http://schemas.openxmlformats.org/drawingml/2006/main">
              <a:ext uri="{FF2B5EF4-FFF2-40B4-BE49-F238E27FC236}">
                <a16:creationId xmlns:a16="http://schemas.microsoft.com/office/drawing/2014/main" id="{3937AEF1-C41A-4959-8620-40A2E749E2C5}"/>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Full-data learning and error analysis</a:t>
            </a:r>
          </a:p>
        </p:txBody>
      </p:sp>
      <p:sp>
        <p:nvSpPr>
          <p:cNvPr id="3" name="12">
            <a:extLst xmlns:a="http://schemas.openxmlformats.org/drawingml/2006/main">
              <a:ext uri="{FF2B5EF4-FFF2-40B4-BE49-F238E27FC236}">
                <a16:creationId xmlns:a16="http://schemas.microsoft.com/office/drawing/2014/main" id="{E16AC714-3325-49E3-89D0-68D98C8474B0}"/>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12</a:t>
            </a:r>
          </a:p>
        </p:txBody>
      </p:sp>
      <p:sp>
        <p:nvSpPr>
          <p:cNvPr id="4" name="Learning curves">
            <a:extLst xmlns:a="http://schemas.openxmlformats.org/drawingml/2006/main">
              <a:ext uri="{FF2B5EF4-FFF2-40B4-BE49-F238E27FC236}">
                <a16:creationId xmlns:a16="http://schemas.microsoft.com/office/drawing/2014/main" id="{0A08F61F-8BB6-443A-AAFF-7B1E5647AE03}"/>
              </a:ext>
            </a:extLst>
          </p:cNvPr>
          <p:cNvSpPr>
            <a:spLocks xmlns:a="http://schemas.openxmlformats.org/drawingml/2006/main" noGrp="1"/>
          </p:cNvSpPr>
          <p:nvPr/>
        </p:nvSpPr>
        <p:spPr>
          <a:xfrm xmlns:a="http://schemas.openxmlformats.org/drawingml/2006/main">
            <a:off x="609600" y="1866900"/>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77"/>
                </a:solidFill>
                <a:latin typeface="Aptos"/>
                <a:ea typeface="Aptos"/>
                <a:cs typeface="Aptos"/>
              </a:defRPr>
            </a:pPr>
            <a:r>
              <a:rPr sz="2175" b="1">
                <a:solidFill>
                  <a:srgbClr val="006D77"/>
                </a:solidFill>
                <a:latin typeface="Aptos"/>
                <a:ea typeface="Aptos"/>
                <a:cs typeface="Aptos"/>
              </a:rPr>
              <a:t>Learning curves</a:t>
            </a:r>
          </a:p>
        </p:txBody>
      </p:sp>
      <p:sp>
        <p:nvSpPr>
          <p:cNvPr id="5" name="">
            <a:extLst xmlns:a="http://schemas.openxmlformats.org/drawingml/2006/main">
              <a:ext uri="{FF2B5EF4-FFF2-40B4-BE49-F238E27FC236}">
                <a16:creationId xmlns:a16="http://schemas.microsoft.com/office/drawing/2014/main" id="{F3401D86-823B-49B2-98B5-373FD4F0EE99}"/>
              </a:ext>
            </a:extLst>
          </p:cNvPr>
          <p:cNvSpPr>
            <a:spLocks xmlns:a="http://schemas.openxmlformats.org/drawingml/2006/main" noGrp="1"/>
          </p:cNvSpPr>
          <p:nvPr/>
        </p:nvSpPr>
        <p:spPr>
          <a:xfrm xmlns:a="http://schemas.openxmlformats.org/drawingml/2006/main">
            <a:off x="609600" y="2381250"/>
            <a:ext cx="5314950" cy="2324100"/>
          </a:xfrm>
          <a:prstGeom xmlns:a="http://schemas.openxmlformats.org/drawingml/2006/main" prst="rect">
            <a:avLst/>
          </a:prstGeom>
          <a:solidFill xmlns:a="http://schemas.openxmlformats.org/drawingml/2006/main">
            <a:srgbClr val="EDF2F3"/>
          </a:solidFill>
          <a:ln xmlns:a="http://schemas.openxmlformats.org/drawingml/2006/main" w="14288">
            <a:solidFill>
              <a:srgbClr val="AFBEC3"/>
            </a:solidFill>
          </a:ln>
        </p:spPr>
      </p:sp>
      <p:sp>
        <p:nvSpPr>
          <p:cNvPr id="6" name="AWAITING RESULTS">
            <a:extLst xmlns:a="http://schemas.openxmlformats.org/drawingml/2006/main">
              <a:ext uri="{FF2B5EF4-FFF2-40B4-BE49-F238E27FC236}">
                <a16:creationId xmlns:a16="http://schemas.microsoft.com/office/drawing/2014/main" id="{BF72577A-D720-4335-8176-4461D8AD3F59}"/>
              </a:ext>
            </a:extLst>
          </p:cNvPr>
          <p:cNvSpPr>
            <a:spLocks xmlns:a="http://schemas.openxmlformats.org/drawingml/2006/main" noGrp="1"/>
          </p:cNvSpPr>
          <p:nvPr/>
        </p:nvSpPr>
        <p:spPr>
          <a:xfrm xmlns:a="http://schemas.openxmlformats.org/drawingml/2006/main">
            <a:off x="838200" y="27051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66773"/>
                </a:solidFill>
                <a:latin typeface="Aptos"/>
                <a:ea typeface="Aptos"/>
                <a:cs typeface="Aptos"/>
              </a:defRPr>
            </a:pPr>
            <a:r>
              <a:rPr sz="1950" b="1">
                <a:solidFill>
                  <a:srgbClr val="566773"/>
                </a:solidFill>
                <a:latin typeface="Aptos"/>
                <a:ea typeface="Aptos"/>
                <a:cs typeface="Aptos"/>
              </a:rPr>
              <a:t>AWAITING RESULTS</a:t>
            </a:r>
          </a:p>
        </p:txBody>
      </p:sp>
      <p:sp>
        <p:nvSpPr>
          <p:cNvPr id="7" name="No final data supplied">
            <a:extLst xmlns:a="http://schemas.openxmlformats.org/drawingml/2006/main">
              <a:ext uri="{FF2B5EF4-FFF2-40B4-BE49-F238E27FC236}">
                <a16:creationId xmlns:a16="http://schemas.microsoft.com/office/drawing/2014/main" id="{CCBEB9A0-EC7C-4D32-B92A-0A2E62DA004E}"/>
              </a:ext>
            </a:extLst>
          </p:cNvPr>
          <p:cNvSpPr>
            <a:spLocks xmlns:a="http://schemas.openxmlformats.org/drawingml/2006/main" noGrp="1"/>
          </p:cNvSpPr>
          <p:nvPr/>
        </p:nvSpPr>
        <p:spPr>
          <a:xfrm xmlns:a="http://schemas.openxmlformats.org/drawingml/2006/main">
            <a:off x="838200" y="32670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ptos"/>
                <a:ea typeface="Aptos"/>
                <a:cs typeface="Aptos"/>
              </a:defRPr>
            </a:pPr>
            <a:r>
              <a:rPr sz="1800" b="0">
                <a:solidFill>
                  <a:srgbClr val="566773"/>
                </a:solidFill>
                <a:latin typeface="Aptos"/>
                <a:ea typeface="Aptos"/>
                <a:cs typeface="Aptos"/>
              </a:rPr>
              <a:t>No final data supplied</a:t>
            </a:r>
          </a:p>
        </p:txBody>
      </p:sp>
      <p:sp>
        <p:nvSpPr>
          <p:cNvPr id="8" name="Train and validation loss across epochs">
            <a:extLst xmlns:a="http://schemas.openxmlformats.org/drawingml/2006/main">
              <a:ext uri="{FF2B5EF4-FFF2-40B4-BE49-F238E27FC236}">
                <a16:creationId xmlns:a16="http://schemas.microsoft.com/office/drawing/2014/main" id="{956151C3-9F24-4EA6-93DB-D98DB86409C7}"/>
              </a:ext>
            </a:extLst>
          </p:cNvPr>
          <p:cNvSpPr>
            <a:spLocks xmlns:a="http://schemas.openxmlformats.org/drawingml/2006/main" noGrp="1"/>
          </p:cNvSpPr>
          <p:nvPr/>
        </p:nvSpPr>
        <p:spPr>
          <a:xfrm xmlns:a="http://schemas.openxmlformats.org/drawingml/2006/main">
            <a:off x="609600" y="4810125"/>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ptos"/>
                <a:ea typeface="Aptos"/>
                <a:cs typeface="Aptos"/>
              </a:defRPr>
            </a:pPr>
            <a:r>
              <a:rPr sz="1650" b="0">
                <a:solidFill>
                  <a:srgbClr val="566773"/>
                </a:solidFill>
                <a:latin typeface="Aptos"/>
                <a:ea typeface="Aptos"/>
                <a:cs typeface="Aptos"/>
              </a:rPr>
              <a:t>Train and validation loss across epochs</a:t>
            </a:r>
          </a:p>
        </p:txBody>
      </p:sp>
      <p:sp>
        <p:nvSpPr>
          <p:cNvPr id="9" name="Confusion matrix">
            <a:extLst xmlns:a="http://schemas.openxmlformats.org/drawingml/2006/main">
              <a:ext uri="{FF2B5EF4-FFF2-40B4-BE49-F238E27FC236}">
                <a16:creationId xmlns:a16="http://schemas.microsoft.com/office/drawing/2014/main" id="{568F9734-C7C4-494B-BE87-4E9A3CBAB8D8}"/>
              </a:ext>
            </a:extLst>
          </p:cNvPr>
          <p:cNvSpPr>
            <a:spLocks xmlns:a="http://schemas.openxmlformats.org/drawingml/2006/main" noGrp="1"/>
          </p:cNvSpPr>
          <p:nvPr/>
        </p:nvSpPr>
        <p:spPr>
          <a:xfrm xmlns:a="http://schemas.openxmlformats.org/drawingml/2006/main">
            <a:off x="6267450" y="1866900"/>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77"/>
                </a:solidFill>
                <a:latin typeface="Aptos"/>
                <a:ea typeface="Aptos"/>
                <a:cs typeface="Aptos"/>
              </a:defRPr>
            </a:pPr>
            <a:r>
              <a:rPr sz="2175" b="1">
                <a:solidFill>
                  <a:srgbClr val="006D77"/>
                </a:solidFill>
                <a:latin typeface="Aptos"/>
                <a:ea typeface="Aptos"/>
                <a:cs typeface="Aptos"/>
              </a:rPr>
              <a:t>Confusion matrix</a:t>
            </a:r>
          </a:p>
        </p:txBody>
      </p:sp>
      <p:sp>
        <p:nvSpPr>
          <p:cNvPr id="10" name="">
            <a:extLst xmlns:a="http://schemas.openxmlformats.org/drawingml/2006/main">
              <a:ext uri="{FF2B5EF4-FFF2-40B4-BE49-F238E27FC236}">
                <a16:creationId xmlns:a16="http://schemas.microsoft.com/office/drawing/2014/main" id="{6B0C3DA2-2D8D-4D75-9EB1-5024EA4C1213}"/>
              </a:ext>
            </a:extLst>
          </p:cNvPr>
          <p:cNvSpPr>
            <a:spLocks xmlns:a="http://schemas.openxmlformats.org/drawingml/2006/main" noGrp="1"/>
          </p:cNvSpPr>
          <p:nvPr/>
        </p:nvSpPr>
        <p:spPr>
          <a:xfrm xmlns:a="http://schemas.openxmlformats.org/drawingml/2006/main">
            <a:off x="6267450" y="2381250"/>
            <a:ext cx="5314950" cy="2324100"/>
          </a:xfrm>
          <a:prstGeom xmlns:a="http://schemas.openxmlformats.org/drawingml/2006/main" prst="rect">
            <a:avLst/>
          </a:prstGeom>
          <a:solidFill xmlns:a="http://schemas.openxmlformats.org/drawingml/2006/main">
            <a:srgbClr val="EDF2F3"/>
          </a:solidFill>
          <a:ln xmlns:a="http://schemas.openxmlformats.org/drawingml/2006/main" w="14288">
            <a:solidFill>
              <a:srgbClr val="AFBEC3"/>
            </a:solidFill>
          </a:ln>
        </p:spPr>
      </p:sp>
      <p:sp>
        <p:nvSpPr>
          <p:cNvPr id="11" name="AWAITING RESULTS">
            <a:extLst xmlns:a="http://schemas.openxmlformats.org/drawingml/2006/main">
              <a:ext uri="{FF2B5EF4-FFF2-40B4-BE49-F238E27FC236}">
                <a16:creationId xmlns:a16="http://schemas.microsoft.com/office/drawing/2014/main" id="{22B6529F-066E-4F4C-8A4A-AA8A8331D74A}"/>
              </a:ext>
            </a:extLst>
          </p:cNvPr>
          <p:cNvSpPr>
            <a:spLocks xmlns:a="http://schemas.openxmlformats.org/drawingml/2006/main" noGrp="1"/>
          </p:cNvSpPr>
          <p:nvPr/>
        </p:nvSpPr>
        <p:spPr>
          <a:xfrm xmlns:a="http://schemas.openxmlformats.org/drawingml/2006/main">
            <a:off x="6496050" y="27051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66773"/>
                </a:solidFill>
                <a:latin typeface="Aptos"/>
                <a:ea typeface="Aptos"/>
                <a:cs typeface="Aptos"/>
              </a:defRPr>
            </a:pPr>
            <a:r>
              <a:rPr sz="1950" b="1">
                <a:solidFill>
                  <a:srgbClr val="566773"/>
                </a:solidFill>
                <a:latin typeface="Aptos"/>
                <a:ea typeface="Aptos"/>
                <a:cs typeface="Aptos"/>
              </a:rPr>
              <a:t>AWAITING RESULTS</a:t>
            </a:r>
          </a:p>
        </p:txBody>
      </p:sp>
      <p:sp>
        <p:nvSpPr>
          <p:cNvPr id="12" name="No final data supplied">
            <a:extLst xmlns:a="http://schemas.openxmlformats.org/drawingml/2006/main">
              <a:ext uri="{FF2B5EF4-FFF2-40B4-BE49-F238E27FC236}">
                <a16:creationId xmlns:a16="http://schemas.microsoft.com/office/drawing/2014/main" id="{356BE9CC-9708-40DB-874E-3F7086F1D420}"/>
              </a:ext>
            </a:extLst>
          </p:cNvPr>
          <p:cNvSpPr>
            <a:spLocks xmlns:a="http://schemas.openxmlformats.org/drawingml/2006/main" noGrp="1"/>
          </p:cNvSpPr>
          <p:nvPr/>
        </p:nvSpPr>
        <p:spPr>
          <a:xfrm xmlns:a="http://schemas.openxmlformats.org/drawingml/2006/main">
            <a:off x="6496050" y="32670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ptos"/>
                <a:ea typeface="Aptos"/>
                <a:cs typeface="Aptos"/>
              </a:defRPr>
            </a:pPr>
            <a:r>
              <a:rPr sz="1800" b="0">
                <a:solidFill>
                  <a:srgbClr val="566773"/>
                </a:solidFill>
                <a:latin typeface="Aptos"/>
                <a:ea typeface="Aptos"/>
                <a:cs typeface="Aptos"/>
              </a:rPr>
              <a:t>No final data supplied</a:t>
            </a:r>
          </a:p>
        </p:txBody>
      </p:sp>
      <p:sp>
        <p:nvSpPr>
          <p:cNvPr id="13" name="True rows × predicted columns, classes 0–7">
            <a:extLst xmlns:a="http://schemas.openxmlformats.org/drawingml/2006/main">
              <a:ext uri="{FF2B5EF4-FFF2-40B4-BE49-F238E27FC236}">
                <a16:creationId xmlns:a16="http://schemas.microsoft.com/office/drawing/2014/main" id="{C8CFFF77-EF03-4F2B-AD3C-D25DC5839362}"/>
              </a:ext>
            </a:extLst>
          </p:cNvPr>
          <p:cNvSpPr>
            <a:spLocks xmlns:a="http://schemas.openxmlformats.org/drawingml/2006/main" noGrp="1"/>
          </p:cNvSpPr>
          <p:nvPr/>
        </p:nvSpPr>
        <p:spPr>
          <a:xfrm xmlns:a="http://schemas.openxmlformats.org/drawingml/2006/main">
            <a:off x="6267450" y="4810125"/>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ptos"/>
                <a:ea typeface="Aptos"/>
                <a:cs typeface="Aptos"/>
              </a:defRPr>
            </a:pPr>
            <a:r>
              <a:rPr sz="1650" b="0">
                <a:solidFill>
                  <a:srgbClr val="566773"/>
                </a:solidFill>
                <a:latin typeface="Aptos"/>
                <a:ea typeface="Aptos"/>
                <a:cs typeface="Aptos"/>
              </a:rPr>
              <a:t>True rows × predicted columns, classes 0–7</a:t>
            </a:r>
          </a:p>
        </p:txBody>
      </p:sp>
      <p:sp>
        <p:nvSpPr>
          <p:cNvPr id="14" name="Populate only after the validation-selected checkpoint ">
            <a:extLst xmlns:a="http://schemas.openxmlformats.org/drawingml/2006/main">
              <a:ext uri="{FF2B5EF4-FFF2-40B4-BE49-F238E27FC236}">
                <a16:creationId xmlns:a16="http://schemas.microsoft.com/office/drawing/2014/main" id="{39E1F891-97EE-4BA3-8A0C-B9BED8FC18A6}"/>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Populate only after the validation-selected checkpoint and complete test evaluation are available.</a:t>
            </a:r>
          </a:p>
        </p:txBody>
      </p:sp>
    </p:spTree>
    <p:extLst>
      <p:ext uri="{BB962C8B-B14F-4D97-AF65-F5344CB8AC3E}">
        <p14:creationId xmlns:p14="http://schemas.microsoft.com/office/powerpoint/2010/main" val="35284054"/>
      </p:ext>
    </p:extLst>
  </p:cSld>
</p:sld>
</file>

<file path=ppt/slides/slide1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6" name="PENDING · FINAL CLEAN TEST METRICS">
            <a:extLst xmlns:a="http://schemas.openxmlformats.org/drawingml/2006/main">
              <a:ext uri="{FF2B5EF4-FFF2-40B4-BE49-F238E27FC236}">
                <a16:creationId xmlns:a16="http://schemas.microsoft.com/office/drawing/2014/main" id="{6856AFCD-DC41-47B4-A03C-6BB9614FB9E2}"/>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4442D"/>
                </a:solidFill>
                <a:latin typeface="Aptos"/>
                <a:ea typeface="Aptos"/>
                <a:cs typeface="Aptos"/>
              </a:defRPr>
            </a:pPr>
            <a:r>
              <a:rPr sz="1350" b="1">
                <a:solidFill>
                  <a:srgbClr val="A4442D"/>
                </a:solidFill>
                <a:latin typeface="Aptos"/>
                <a:ea typeface="Aptos"/>
                <a:cs typeface="Aptos"/>
              </a:rPr>
              <a:t>PENDING · FINAL CLEAN TEST METRICS</a:t>
            </a:r>
          </a:p>
        </p:txBody>
      </p:sp>
      <p:sp>
        <p:nvSpPr>
          <p:cNvPr id="2" name="Full-data per-class performance">
            <a:extLst xmlns:a="http://schemas.openxmlformats.org/drawingml/2006/main">
              <a:ext uri="{FF2B5EF4-FFF2-40B4-BE49-F238E27FC236}">
                <a16:creationId xmlns:a16="http://schemas.microsoft.com/office/drawing/2014/main" id="{21D0D105-0D43-413E-8FB4-E3563A44B908}"/>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Full-data per-class performance</a:t>
            </a:r>
          </a:p>
        </p:txBody>
      </p:sp>
      <p:sp>
        <p:nvSpPr>
          <p:cNvPr id="3" name="13">
            <a:extLst xmlns:a="http://schemas.openxmlformats.org/drawingml/2006/main">
              <a:ext uri="{FF2B5EF4-FFF2-40B4-BE49-F238E27FC236}">
                <a16:creationId xmlns:a16="http://schemas.microsoft.com/office/drawing/2014/main" id="{B929D2D4-5ADB-4611-ABB3-40169DB88192}"/>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13</a:t>
            </a:r>
          </a:p>
        </p:txBody>
      </p:sp>
      <p:graphicFrame>
        <p:nvGraphicFramePr>
          <p:cNvPr id="9" name=""/>
          <p:cNvGraphicFramePr/>
          <p:nvPr/>
        </p:nvGraphicFramePr>
        <p:xfrm>
          <a:off xmlns:a="http://schemas.openxmlformats.org/drawingml/2006/main" x="609600" y="1743075"/>
          <a:ext xmlns:a="http://schemas.openxmlformats.org/drawingml/2006/main" cx="10972800" cy="3667125"/>
        </p:xfrm>
        <a:graphic xmlns:a="http://schemas.openxmlformats.org/drawingml/2006/main">
          <a:graphicData uri="http://schemas.openxmlformats.org/drawingml/2006/table">
            <a:tbl>
              <a:tblPr/>
              <a:tblGrid>
                <a:gridCol w="2952750"/>
                <a:gridCol w="2076450"/>
                <a:gridCol w="1981200"/>
                <a:gridCol w="1981200"/>
                <a:gridCol w="1981200"/>
              </a:tblGrid>
              <a:tr h="407458">
                <a:tc>
                  <a:txBody>
                    <a:bodyPr>
                      <a:noAutofit/>
                    </a:bodyPr>
                    <a:lstStyle/>
                    <a:p>
                      <a:r>
                        <a:rPr sz="1800" b="1">
                          <a:solidFill>
                            <a:srgbClr val="FFFFFF"/>
                          </a:solidFill>
                          <a:latin typeface="Aptos"/>
                          <a:ea typeface="Aptos"/>
                          <a:cs typeface="Aptos"/>
                        </a:rPr>
                        <a:t>Class</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Precision</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Recall</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F1</a:t>
                      </a:r>
                    </a:p>
                  </a:txBody>
                  <a:tcPr marL="91440" marR="91440" marT="45720" marB="45720">
                    <a:solidFill>
                      <a:srgbClr val="142D3B"/>
                    </a:solidFill>
                  </a:tcPr>
                </a:tc>
                <a:tc>
                  <a:txBody>
                    <a:bodyPr>
                      <a:noAutofit/>
                    </a:bodyPr>
                    <a:lstStyle/>
                    <a:p>
                      <a:r>
                        <a:rPr sz="1800" b="1">
                          <a:solidFill>
                            <a:srgbClr val="FFFFFF"/>
                          </a:solidFill>
                          <a:latin typeface="Aptos"/>
                          <a:ea typeface="Aptos"/>
                          <a:cs typeface="Aptos"/>
                        </a:rPr>
                        <a:t>Support</a:t>
                      </a:r>
                    </a:p>
                  </a:txBody>
                  <a:tcPr marL="91440" marR="91440" marT="45720" marB="45720">
                    <a:solidFill>
                      <a:srgbClr val="142D3B"/>
                    </a:solidFill>
                  </a:tcPr>
                </a:tc>
              </a:tr>
              <a:tr h="407458">
                <a:tc>
                  <a:txBody>
                    <a:bodyPr>
                      <a:noAutofit/>
                    </a:bodyPr>
                    <a:lstStyle/>
                    <a:p>
                      <a:r>
                        <a:rPr sz="1800" b="1">
                          <a:solidFill>
                            <a:srgbClr val="16313E"/>
                          </a:solidFill>
                          <a:latin typeface="Aptos"/>
                          <a:ea typeface="Aptos"/>
                          <a:cs typeface="Aptos"/>
                        </a:rPr>
                        <a:t>Benign</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r>
              <a:tr h="407458">
                <a:tc>
                  <a:txBody>
                    <a:bodyPr>
                      <a:noAutofit/>
                    </a:bodyPr>
                    <a:lstStyle/>
                    <a:p>
                      <a:r>
                        <a:rPr sz="1800" b="1">
                          <a:solidFill>
                            <a:srgbClr val="16313E"/>
                          </a:solidFill>
                          <a:latin typeface="Aptos"/>
                          <a:ea typeface="Aptos"/>
                          <a:cs typeface="Aptos"/>
                        </a:rPr>
                        <a:t>DDoS</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r>
              <a:tr h="407458">
                <a:tc>
                  <a:txBody>
                    <a:bodyPr>
                      <a:noAutofit/>
                    </a:bodyPr>
                    <a:lstStyle/>
                    <a:p>
                      <a:r>
                        <a:rPr sz="1800" b="1">
                          <a:solidFill>
                            <a:srgbClr val="16313E"/>
                          </a:solidFill>
                          <a:latin typeface="Aptos"/>
                          <a:ea typeface="Aptos"/>
                          <a:cs typeface="Aptos"/>
                        </a:rPr>
                        <a:t>DoS</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r>
              <a:tr h="407458">
                <a:tc>
                  <a:txBody>
                    <a:bodyPr>
                      <a:noAutofit/>
                    </a:bodyPr>
                    <a:lstStyle/>
                    <a:p>
                      <a:r>
                        <a:rPr sz="1800" b="1">
                          <a:solidFill>
                            <a:srgbClr val="16313E"/>
                          </a:solidFill>
                          <a:latin typeface="Aptos"/>
                          <a:ea typeface="Aptos"/>
                          <a:cs typeface="Aptos"/>
                        </a:rPr>
                        <a:t>Botnet</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r>
              <a:tr h="407458">
                <a:tc>
                  <a:txBody>
                    <a:bodyPr>
                      <a:noAutofit/>
                    </a:bodyPr>
                    <a:lstStyle/>
                    <a:p>
                      <a:r>
                        <a:rPr sz="1800" b="1">
                          <a:solidFill>
                            <a:srgbClr val="16313E"/>
                          </a:solidFill>
                          <a:latin typeface="Aptos"/>
                          <a:ea typeface="Aptos"/>
                          <a:cs typeface="Aptos"/>
                        </a:rPr>
                        <a:t>Bruteforce</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r>
              <a:tr h="407458">
                <a:tc>
                  <a:txBody>
                    <a:bodyPr>
                      <a:noAutofit/>
                    </a:bodyPr>
                    <a:lstStyle/>
                    <a:p>
                      <a:r>
                        <a:rPr sz="1800" b="1">
                          <a:solidFill>
                            <a:srgbClr val="16313E"/>
                          </a:solidFill>
                          <a:latin typeface="Aptos"/>
                          <a:ea typeface="Aptos"/>
                          <a:cs typeface="Aptos"/>
                        </a:rPr>
                        <a:t>Infiltration</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r>
              <a:tr h="407458">
                <a:tc>
                  <a:txBody>
                    <a:bodyPr>
                      <a:noAutofit/>
                    </a:bodyPr>
                    <a:lstStyle/>
                    <a:p>
                      <a:r>
                        <a:rPr sz="1800" b="1">
                          <a:solidFill>
                            <a:srgbClr val="16313E"/>
                          </a:solidFill>
                          <a:latin typeface="Aptos"/>
                          <a:ea typeface="Aptos"/>
                          <a:cs typeface="Aptos"/>
                        </a:rPr>
                        <a:t>Webattack</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FFFFFF"/>
                    </a:solidFill>
                  </a:tcPr>
                </a:tc>
              </a:tr>
              <a:tr h="407458">
                <a:tc>
                  <a:txBody>
                    <a:bodyPr>
                      <a:noAutofit/>
                    </a:bodyPr>
                    <a:lstStyle/>
                    <a:p>
                      <a:r>
                        <a:rPr sz="1800" b="1">
                          <a:solidFill>
                            <a:srgbClr val="16313E"/>
                          </a:solidFill>
                          <a:latin typeface="Aptos"/>
                          <a:ea typeface="Aptos"/>
                          <a:cs typeface="Aptos"/>
                        </a:rPr>
                        <a:t>Portscan</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c>
                  <a:txBody>
                    <a:bodyPr>
                      <a:noAutofit/>
                    </a:bodyPr>
                    <a:lstStyle/>
                    <a:p>
                      <a:r>
                        <a:rPr sz="1800" b="0">
                          <a:solidFill>
                            <a:srgbClr val="16313E"/>
                          </a:solidFill>
                          <a:latin typeface="Aptos"/>
                          <a:ea typeface="Aptos"/>
                          <a:cs typeface="Aptos"/>
                        </a:rPr>
                        <a:t>Pending</a:t>
                      </a:r>
                    </a:p>
                  </a:txBody>
                  <a:tcPr marL="91440" marR="91440" marT="45720" marB="45720">
                    <a:solidFill>
                      <a:srgbClr val="EDF2F3"/>
                    </a:solidFill>
                  </a:tcPr>
                </a:tc>
              </a:tr>
            </a:tbl>
          </a:graphicData>
        </a:graphic>
      </p:graphicFrame>
      <p:sp>
        <p:nvSpPr>
          <p:cNvPr id="5" name="Report all eight classes with support, macro-F1, balanc">
            <a:extLst xmlns:a="http://schemas.openxmlformats.org/drawingml/2006/main">
              <a:ext uri="{FF2B5EF4-FFF2-40B4-BE49-F238E27FC236}">
                <a16:creationId xmlns:a16="http://schemas.microsoft.com/office/drawing/2014/main" id="{6C76C3C6-7199-49CC-9CC7-184B232BBE79}"/>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Report all eight classes with support, macro-F1, balanced accuracy and Benign FPR.</a:t>
            </a:r>
          </a:p>
        </p:txBody>
      </p:sp>
    </p:spTree>
    <p:extLst>
      <p:ext uri="{BB962C8B-B14F-4D97-AF65-F5344CB8AC3E}">
        <p14:creationId xmlns:p14="http://schemas.microsoft.com/office/powerpoint/2010/main" val="1021807838"/>
      </p:ext>
    </p:extLst>
  </p:cSld>
</p:sld>
</file>

<file path=ppt/slides/slide1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5" name="PENDING · SEPARATE FUTURE RUNS">
            <a:extLst xmlns:a="http://schemas.openxmlformats.org/drawingml/2006/main">
              <a:ext uri="{FF2B5EF4-FFF2-40B4-BE49-F238E27FC236}">
                <a16:creationId xmlns:a16="http://schemas.microsoft.com/office/drawing/2014/main" id="{1B1E11E4-C132-49D0-BC92-7682C2254216}"/>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4442D"/>
                </a:solidFill>
                <a:latin typeface="Aptos"/>
                <a:ea typeface="Aptos"/>
                <a:cs typeface="Aptos"/>
              </a:defRPr>
            </a:pPr>
            <a:r>
              <a:rPr sz="1350" b="1">
                <a:solidFill>
                  <a:srgbClr val="A4442D"/>
                </a:solidFill>
                <a:latin typeface="Aptos"/>
                <a:ea typeface="Aptos"/>
                <a:cs typeface="Aptos"/>
              </a:rPr>
              <a:t>PENDING · SEPARATE FUTURE RUNS</a:t>
            </a:r>
          </a:p>
        </p:txBody>
      </p:sp>
      <p:sp>
        <p:nvSpPr>
          <p:cNvPr id="2" name="Full-data continual and poisoning comparisons">
            <a:extLst xmlns:a="http://schemas.openxmlformats.org/drawingml/2006/main">
              <a:ext uri="{FF2B5EF4-FFF2-40B4-BE49-F238E27FC236}">
                <a16:creationId xmlns:a16="http://schemas.microsoft.com/office/drawing/2014/main" id="{E18E69BC-62D6-467B-9E32-4AA88D4A5C81}"/>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Full-data continual and poisoning comparisons</a:t>
            </a:r>
          </a:p>
        </p:txBody>
      </p:sp>
      <p:sp>
        <p:nvSpPr>
          <p:cNvPr id="3" name="14">
            <a:extLst xmlns:a="http://schemas.openxmlformats.org/drawingml/2006/main">
              <a:ext uri="{FF2B5EF4-FFF2-40B4-BE49-F238E27FC236}">
                <a16:creationId xmlns:a16="http://schemas.microsoft.com/office/drawing/2014/main" id="{6CB429A0-D7C1-454F-B65E-F7A1C6FB8029}"/>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14</a:t>
            </a:r>
          </a:p>
        </p:txBody>
      </p:sp>
      <p:sp>
        <p:nvSpPr>
          <p:cNvPr id="4" name="Continual forgetting">
            <a:extLst xmlns:a="http://schemas.openxmlformats.org/drawingml/2006/main">
              <a:ext uri="{FF2B5EF4-FFF2-40B4-BE49-F238E27FC236}">
                <a16:creationId xmlns:a16="http://schemas.microsoft.com/office/drawing/2014/main" id="{1F76727E-5383-4B21-AB96-BE5B673ECD67}"/>
              </a:ext>
            </a:extLst>
          </p:cNvPr>
          <p:cNvSpPr>
            <a:spLocks xmlns:a="http://schemas.openxmlformats.org/drawingml/2006/main" noGrp="1"/>
          </p:cNvSpPr>
          <p:nvPr/>
        </p:nvSpPr>
        <p:spPr>
          <a:xfrm xmlns:a="http://schemas.openxmlformats.org/drawingml/2006/main">
            <a:off x="609600" y="1866900"/>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77"/>
                </a:solidFill>
                <a:latin typeface="Aptos"/>
                <a:ea typeface="Aptos"/>
                <a:cs typeface="Aptos"/>
              </a:defRPr>
            </a:pPr>
            <a:r>
              <a:rPr sz="2175" b="1">
                <a:solidFill>
                  <a:srgbClr val="006D77"/>
                </a:solidFill>
                <a:latin typeface="Aptos"/>
                <a:ea typeface="Aptos"/>
                <a:cs typeface="Aptos"/>
              </a:rPr>
              <a:t>Continual forgetting</a:t>
            </a:r>
          </a:p>
        </p:txBody>
      </p:sp>
      <p:sp>
        <p:nvSpPr>
          <p:cNvPr id="5" name="">
            <a:extLst xmlns:a="http://schemas.openxmlformats.org/drawingml/2006/main">
              <a:ext uri="{FF2B5EF4-FFF2-40B4-BE49-F238E27FC236}">
                <a16:creationId xmlns:a16="http://schemas.microsoft.com/office/drawing/2014/main" id="{B5EE2A41-E3E1-4745-B52D-B446A9476420}"/>
              </a:ext>
            </a:extLst>
          </p:cNvPr>
          <p:cNvSpPr>
            <a:spLocks xmlns:a="http://schemas.openxmlformats.org/drawingml/2006/main" noGrp="1"/>
          </p:cNvSpPr>
          <p:nvPr/>
        </p:nvSpPr>
        <p:spPr>
          <a:xfrm xmlns:a="http://schemas.openxmlformats.org/drawingml/2006/main">
            <a:off x="609600" y="2381250"/>
            <a:ext cx="5314950" cy="2324100"/>
          </a:xfrm>
          <a:prstGeom xmlns:a="http://schemas.openxmlformats.org/drawingml/2006/main" prst="rect">
            <a:avLst/>
          </a:prstGeom>
          <a:solidFill xmlns:a="http://schemas.openxmlformats.org/drawingml/2006/main">
            <a:srgbClr val="EDF2F3"/>
          </a:solidFill>
          <a:ln xmlns:a="http://schemas.openxmlformats.org/drawingml/2006/main" w="14288">
            <a:solidFill>
              <a:srgbClr val="AFBEC3"/>
            </a:solidFill>
          </a:ln>
        </p:spPr>
      </p:sp>
      <p:sp>
        <p:nvSpPr>
          <p:cNvPr id="6" name="AWAITING RESULTS">
            <a:extLst xmlns:a="http://schemas.openxmlformats.org/drawingml/2006/main">
              <a:ext uri="{FF2B5EF4-FFF2-40B4-BE49-F238E27FC236}">
                <a16:creationId xmlns:a16="http://schemas.microsoft.com/office/drawing/2014/main" id="{A1E7B215-6626-4339-A366-5EBC872AE6D2}"/>
              </a:ext>
            </a:extLst>
          </p:cNvPr>
          <p:cNvSpPr>
            <a:spLocks xmlns:a="http://schemas.openxmlformats.org/drawingml/2006/main" noGrp="1"/>
          </p:cNvSpPr>
          <p:nvPr/>
        </p:nvSpPr>
        <p:spPr>
          <a:xfrm xmlns:a="http://schemas.openxmlformats.org/drawingml/2006/main">
            <a:off x="838200" y="27051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66773"/>
                </a:solidFill>
                <a:latin typeface="Aptos"/>
                <a:ea typeface="Aptos"/>
                <a:cs typeface="Aptos"/>
              </a:defRPr>
            </a:pPr>
            <a:r>
              <a:rPr sz="1950" b="1">
                <a:solidFill>
                  <a:srgbClr val="566773"/>
                </a:solidFill>
                <a:latin typeface="Aptos"/>
                <a:ea typeface="Aptos"/>
                <a:cs typeface="Aptos"/>
              </a:rPr>
              <a:t>AWAITING RESULTS</a:t>
            </a:r>
          </a:p>
        </p:txBody>
      </p:sp>
      <p:sp>
        <p:nvSpPr>
          <p:cNvPr id="7" name="No final data supplied">
            <a:extLst xmlns:a="http://schemas.openxmlformats.org/drawingml/2006/main">
              <a:ext uri="{FF2B5EF4-FFF2-40B4-BE49-F238E27FC236}">
                <a16:creationId xmlns:a16="http://schemas.microsoft.com/office/drawing/2014/main" id="{2774DD0D-E985-44F9-A134-83208A5DCA69}"/>
              </a:ext>
            </a:extLst>
          </p:cNvPr>
          <p:cNvSpPr>
            <a:spLocks xmlns:a="http://schemas.openxmlformats.org/drawingml/2006/main" noGrp="1"/>
          </p:cNvSpPr>
          <p:nvPr/>
        </p:nvSpPr>
        <p:spPr>
          <a:xfrm xmlns:a="http://schemas.openxmlformats.org/drawingml/2006/main">
            <a:off x="838200" y="32670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ptos"/>
                <a:ea typeface="Aptos"/>
                <a:cs typeface="Aptos"/>
              </a:defRPr>
            </a:pPr>
            <a:r>
              <a:rPr sz="1800" b="0">
                <a:solidFill>
                  <a:srgbClr val="566773"/>
                </a:solidFill>
                <a:latin typeface="Aptos"/>
                <a:ea typeface="Aptos"/>
                <a:cs typeface="Aptos"/>
              </a:rPr>
              <a:t>No final data supplied</a:t>
            </a:r>
          </a:p>
        </p:txBody>
      </p:sp>
      <p:sp>
        <p:nvSpPr>
          <p:cNvPr id="8" name="Old-class before minus after Task 2, in pp">
            <a:extLst xmlns:a="http://schemas.openxmlformats.org/drawingml/2006/main">
              <a:ext uri="{FF2B5EF4-FFF2-40B4-BE49-F238E27FC236}">
                <a16:creationId xmlns:a16="http://schemas.microsoft.com/office/drawing/2014/main" id="{18514019-B231-4443-B1B6-178A5A952D89}"/>
              </a:ext>
            </a:extLst>
          </p:cNvPr>
          <p:cNvSpPr>
            <a:spLocks xmlns:a="http://schemas.openxmlformats.org/drawingml/2006/main" noGrp="1"/>
          </p:cNvSpPr>
          <p:nvPr/>
        </p:nvSpPr>
        <p:spPr>
          <a:xfrm xmlns:a="http://schemas.openxmlformats.org/drawingml/2006/main">
            <a:off x="609600" y="4810125"/>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ptos"/>
                <a:ea typeface="Aptos"/>
                <a:cs typeface="Aptos"/>
              </a:defRPr>
            </a:pPr>
            <a:r>
              <a:rPr sz="1650" b="0">
                <a:solidFill>
                  <a:srgbClr val="566773"/>
                </a:solidFill>
                <a:latin typeface="Aptos"/>
                <a:ea typeface="Aptos"/>
                <a:cs typeface="Aptos"/>
              </a:rPr>
              <a:t>Old-class before minus after Task 2, in pp</a:t>
            </a:r>
          </a:p>
        </p:txBody>
      </p:sp>
      <p:sp>
        <p:nvSpPr>
          <p:cNvPr id="9" name="Poisoning comparisons">
            <a:extLst xmlns:a="http://schemas.openxmlformats.org/drawingml/2006/main">
              <a:ext uri="{FF2B5EF4-FFF2-40B4-BE49-F238E27FC236}">
                <a16:creationId xmlns:a16="http://schemas.microsoft.com/office/drawing/2014/main" id="{1D594FF9-750C-490C-9330-B38AF1A8DE15}"/>
              </a:ext>
            </a:extLst>
          </p:cNvPr>
          <p:cNvSpPr>
            <a:spLocks xmlns:a="http://schemas.openxmlformats.org/drawingml/2006/main" noGrp="1"/>
          </p:cNvSpPr>
          <p:nvPr/>
        </p:nvSpPr>
        <p:spPr>
          <a:xfrm xmlns:a="http://schemas.openxmlformats.org/drawingml/2006/main">
            <a:off x="6267450" y="1866900"/>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77"/>
                </a:solidFill>
                <a:latin typeface="Aptos"/>
                <a:ea typeface="Aptos"/>
                <a:cs typeface="Aptos"/>
              </a:defRPr>
            </a:pPr>
            <a:r>
              <a:rPr sz="2175" b="1">
                <a:solidFill>
                  <a:srgbClr val="006D77"/>
                </a:solidFill>
                <a:latin typeface="Aptos"/>
                <a:ea typeface="Aptos"/>
                <a:cs typeface="Aptos"/>
              </a:rPr>
              <a:t>Poisoning comparisons</a:t>
            </a:r>
          </a:p>
        </p:txBody>
      </p:sp>
      <p:sp>
        <p:nvSpPr>
          <p:cNvPr id="10" name="">
            <a:extLst xmlns:a="http://schemas.openxmlformats.org/drawingml/2006/main">
              <a:ext uri="{FF2B5EF4-FFF2-40B4-BE49-F238E27FC236}">
                <a16:creationId xmlns:a16="http://schemas.microsoft.com/office/drawing/2014/main" id="{BB4DEDF6-0364-47DE-B96D-3160847F9F31}"/>
              </a:ext>
            </a:extLst>
          </p:cNvPr>
          <p:cNvSpPr>
            <a:spLocks xmlns:a="http://schemas.openxmlformats.org/drawingml/2006/main" noGrp="1"/>
          </p:cNvSpPr>
          <p:nvPr/>
        </p:nvSpPr>
        <p:spPr>
          <a:xfrm xmlns:a="http://schemas.openxmlformats.org/drawingml/2006/main">
            <a:off x="6267450" y="2381250"/>
            <a:ext cx="5314950" cy="2324100"/>
          </a:xfrm>
          <a:prstGeom xmlns:a="http://schemas.openxmlformats.org/drawingml/2006/main" prst="rect">
            <a:avLst/>
          </a:prstGeom>
          <a:solidFill xmlns:a="http://schemas.openxmlformats.org/drawingml/2006/main">
            <a:srgbClr val="EDF2F3"/>
          </a:solidFill>
          <a:ln xmlns:a="http://schemas.openxmlformats.org/drawingml/2006/main" w="14288">
            <a:solidFill>
              <a:srgbClr val="AFBEC3"/>
            </a:solidFill>
          </a:ln>
        </p:spPr>
      </p:sp>
      <p:sp>
        <p:nvSpPr>
          <p:cNvPr id="11" name="AWAITING RESULTS">
            <a:extLst xmlns:a="http://schemas.openxmlformats.org/drawingml/2006/main">
              <a:ext uri="{FF2B5EF4-FFF2-40B4-BE49-F238E27FC236}">
                <a16:creationId xmlns:a16="http://schemas.microsoft.com/office/drawing/2014/main" id="{0389840B-29DD-4194-83C4-41043280E5E4}"/>
              </a:ext>
            </a:extLst>
          </p:cNvPr>
          <p:cNvSpPr>
            <a:spLocks xmlns:a="http://schemas.openxmlformats.org/drawingml/2006/main" noGrp="1"/>
          </p:cNvSpPr>
          <p:nvPr/>
        </p:nvSpPr>
        <p:spPr>
          <a:xfrm xmlns:a="http://schemas.openxmlformats.org/drawingml/2006/main">
            <a:off x="6496050" y="27051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66773"/>
                </a:solidFill>
                <a:latin typeface="Aptos"/>
                <a:ea typeface="Aptos"/>
                <a:cs typeface="Aptos"/>
              </a:defRPr>
            </a:pPr>
            <a:r>
              <a:rPr sz="1950" b="1">
                <a:solidFill>
                  <a:srgbClr val="566773"/>
                </a:solidFill>
                <a:latin typeface="Aptos"/>
                <a:ea typeface="Aptos"/>
                <a:cs typeface="Aptos"/>
              </a:rPr>
              <a:t>AWAITING RESULTS</a:t>
            </a:r>
          </a:p>
        </p:txBody>
      </p:sp>
      <p:sp>
        <p:nvSpPr>
          <p:cNvPr id="12" name="No final data supplied">
            <a:extLst xmlns:a="http://schemas.openxmlformats.org/drawingml/2006/main">
              <a:ext uri="{FF2B5EF4-FFF2-40B4-BE49-F238E27FC236}">
                <a16:creationId xmlns:a16="http://schemas.microsoft.com/office/drawing/2014/main" id="{F1C45BD0-238A-4EEA-90F5-106382B0DD2F}"/>
              </a:ext>
            </a:extLst>
          </p:cNvPr>
          <p:cNvSpPr>
            <a:spLocks xmlns:a="http://schemas.openxmlformats.org/drawingml/2006/main" noGrp="1"/>
          </p:cNvSpPr>
          <p:nvPr/>
        </p:nvSpPr>
        <p:spPr>
          <a:xfrm xmlns:a="http://schemas.openxmlformats.org/drawingml/2006/main">
            <a:off x="6496050" y="32670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6773"/>
                </a:solidFill>
                <a:latin typeface="Aptos"/>
                <a:ea typeface="Aptos"/>
                <a:cs typeface="Aptos"/>
              </a:defRPr>
            </a:pPr>
            <a:r>
              <a:rPr sz="1800" b="0">
                <a:solidFill>
                  <a:srgbClr val="566773"/>
                </a:solidFill>
                <a:latin typeface="Aptos"/>
                <a:ea typeface="Aptos"/>
                <a:cs typeface="Aptos"/>
              </a:rPr>
              <a:t>No final data supplied</a:t>
            </a:r>
          </a:p>
        </p:txBody>
      </p:sp>
      <p:sp>
        <p:nvSpPr>
          <p:cNvPr id="13" name="Explicit budgets, clean and paired defense arms">
            <a:extLst xmlns:a="http://schemas.openxmlformats.org/drawingml/2006/main">
              <a:ext uri="{FF2B5EF4-FFF2-40B4-BE49-F238E27FC236}">
                <a16:creationId xmlns:a16="http://schemas.microsoft.com/office/drawing/2014/main" id="{749A86F1-2973-42E7-BA61-850AE1CD0EA4}"/>
              </a:ext>
            </a:extLst>
          </p:cNvPr>
          <p:cNvSpPr>
            <a:spLocks xmlns:a="http://schemas.openxmlformats.org/drawingml/2006/main" noGrp="1"/>
          </p:cNvSpPr>
          <p:nvPr/>
        </p:nvSpPr>
        <p:spPr>
          <a:xfrm xmlns:a="http://schemas.openxmlformats.org/drawingml/2006/main">
            <a:off x="6267450" y="4810125"/>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73"/>
                </a:solidFill>
                <a:latin typeface="Aptos"/>
                <a:ea typeface="Aptos"/>
                <a:cs typeface="Aptos"/>
              </a:defRPr>
            </a:pPr>
            <a:r>
              <a:rPr sz="1650" b="0">
                <a:solidFill>
                  <a:srgbClr val="566773"/>
                </a:solidFill>
                <a:latin typeface="Aptos"/>
                <a:ea typeface="Aptos"/>
                <a:cs typeface="Aptos"/>
              </a:rPr>
              <a:t>Explicit budgets, clean and paired defense arms</a:t>
            </a:r>
          </a:p>
        </p:txBody>
      </p:sp>
      <p:sp>
        <p:nvSpPr>
          <p:cNvPr id="14" name="These comparisons require separate runs after review of">
            <a:extLst xmlns:a="http://schemas.openxmlformats.org/drawingml/2006/main">
              <a:ext uri="{FF2B5EF4-FFF2-40B4-BE49-F238E27FC236}">
                <a16:creationId xmlns:a16="http://schemas.microsoft.com/office/drawing/2014/main" id="{0D0E0D8B-B0A1-4277-8EDE-3B0880D8289A}"/>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These comparisons require separate runs after review of the clean full-data results.</a:t>
            </a:r>
          </a:p>
        </p:txBody>
      </p:sp>
    </p:spTree>
    <p:extLst>
      <p:ext uri="{BB962C8B-B14F-4D97-AF65-F5344CB8AC3E}">
        <p14:creationId xmlns:p14="http://schemas.microsoft.com/office/powerpoint/2010/main" val="1549110468"/>
      </p:ext>
    </p:extLst>
  </p:cSld>
</p:sld>
</file>

<file path=ppt/slides/slide1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9" name="RESEARCH PROTOTYPE · PLANNED INTEGRATION">
            <a:extLst xmlns:a="http://schemas.openxmlformats.org/drawingml/2006/main">
              <a:ext uri="{FF2B5EF4-FFF2-40B4-BE49-F238E27FC236}">
                <a16:creationId xmlns:a16="http://schemas.microsoft.com/office/drawing/2014/main" id="{0FB123D9-F849-49EE-8094-0E2AB0CF83F5}"/>
              </a:ext>
            </a:extLst>
          </p:cNvPr>
          <p:cNvSpPr>
            <a:spLocks xmlns:a="http://schemas.openxmlformats.org/drawingml/2006/main" noGrp="1"/>
          </p:cNvSpPr>
          <p:nvPr/>
        </p:nvSpPr>
        <p:spPr>
          <a:xfrm xmlns:a="http://schemas.openxmlformats.org/drawingml/2006/main">
            <a:off x="609600" y="285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D77"/>
                </a:solidFill>
                <a:latin typeface="Aptos"/>
                <a:ea typeface="Aptos"/>
                <a:cs typeface="Aptos"/>
              </a:defRPr>
            </a:pPr>
            <a:r>
              <a:rPr sz="1350" b="1">
                <a:solidFill>
                  <a:srgbClr val="006D77"/>
                </a:solidFill>
                <a:latin typeface="Aptos"/>
                <a:ea typeface="Aptos"/>
                <a:cs typeface="Aptos"/>
              </a:rPr>
              <a:t>RESEARCH PROTOTYPE · PLANNED INTEGRATION</a:t>
            </a:r>
          </a:p>
        </p:txBody>
      </p:sp>
      <p:sp>
        <p:nvSpPr>
          <p:cNvPr id="2" name="Limitations and local demo plan">
            <a:extLst xmlns:a="http://schemas.openxmlformats.org/drawingml/2006/main">
              <a:ext uri="{FF2B5EF4-FFF2-40B4-BE49-F238E27FC236}">
                <a16:creationId xmlns:a16="http://schemas.microsoft.com/office/drawing/2014/main" id="{B07FE3F8-4EF3-416F-8B98-1E552E883C51}"/>
              </a:ext>
            </a:extLst>
          </p:cNvPr>
          <p:cNvSpPr>
            <a:spLocks xmlns:a="http://schemas.openxmlformats.org/drawingml/2006/main" noGrp="1"/>
          </p:cNvSpPr>
          <p:nvPr/>
        </p:nvSpPr>
        <p:spPr>
          <a:xfrm xmlns:a="http://schemas.openxmlformats.org/drawingml/2006/main">
            <a:off x="609600" y="7524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D3B"/>
                </a:solidFill>
                <a:latin typeface="Aptos"/>
                <a:ea typeface="Aptos"/>
                <a:cs typeface="Aptos"/>
              </a:defRPr>
            </a:pPr>
            <a:r>
              <a:rPr sz="3000" b="1">
                <a:solidFill>
                  <a:srgbClr val="142D3B"/>
                </a:solidFill>
                <a:latin typeface="Aptos"/>
                <a:ea typeface="Aptos"/>
                <a:cs typeface="Aptos"/>
              </a:rPr>
              <a:t>Limitations and local demo plan</a:t>
            </a:r>
          </a:p>
        </p:txBody>
      </p:sp>
      <p:sp>
        <p:nvSpPr>
          <p:cNvPr id="3" name="15">
            <a:extLst xmlns:a="http://schemas.openxmlformats.org/drawingml/2006/main">
              <a:ext uri="{FF2B5EF4-FFF2-40B4-BE49-F238E27FC236}">
                <a16:creationId xmlns:a16="http://schemas.microsoft.com/office/drawing/2014/main" id="{275B4B91-B15D-4F86-B85E-E85474361C3C}"/>
              </a:ext>
            </a:extLst>
          </p:cNvPr>
          <p:cNvSpPr>
            <a:spLocks xmlns:a="http://schemas.openxmlformats.org/drawingml/2006/main" noGrp="1"/>
          </p:cNvSpPr>
          <p:nvPr/>
        </p:nvSpPr>
        <p:spPr>
          <a:xfrm xmlns:a="http://schemas.openxmlformats.org/drawingml/2006/main">
            <a:off x="1120140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773"/>
                </a:solidFill>
                <a:latin typeface="Aptos"/>
                <a:ea typeface="Aptos"/>
                <a:cs typeface="Aptos"/>
              </a:defRPr>
            </a:pPr>
            <a:r>
              <a:rPr sz="1350" b="0">
                <a:solidFill>
                  <a:srgbClr val="566773"/>
                </a:solidFill>
                <a:latin typeface="Aptos"/>
                <a:ea typeface="Aptos"/>
                <a:cs typeface="Aptos"/>
              </a:rPr>
              <a:t>15</a:t>
            </a:r>
          </a:p>
        </p:txBody>
      </p:sp>
      <p:sp>
        <p:nvSpPr>
          <p:cNvPr id="4" name="Current limitations">
            <a:extLst xmlns:a="http://schemas.openxmlformats.org/drawingml/2006/main">
              <a:ext uri="{FF2B5EF4-FFF2-40B4-BE49-F238E27FC236}">
                <a16:creationId xmlns:a16="http://schemas.microsoft.com/office/drawing/2014/main" id="{0126460F-7505-4464-92E0-ECE3EB3DF401}"/>
              </a:ext>
            </a:extLst>
          </p:cNvPr>
          <p:cNvSpPr>
            <a:spLocks xmlns:a="http://schemas.openxmlformats.org/drawingml/2006/main" noGrp="1"/>
          </p:cNvSpPr>
          <p:nvPr/>
        </p:nvSpPr>
        <p:spPr>
          <a:xfrm xmlns:a="http://schemas.openxmlformats.org/drawingml/2006/main">
            <a:off x="609600" y="20383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Current limitations</a:t>
            </a:r>
          </a:p>
        </p:txBody>
      </p:sp>
      <p:sp>
        <p:nvSpPr>
          <p:cNvPr id="5" name="One seed and one bounded class split&#10;Unknown source pro">
            <a:extLst xmlns:a="http://schemas.openxmlformats.org/drawingml/2006/main">
              <a:ext uri="{FF2B5EF4-FFF2-40B4-BE49-F238E27FC236}">
                <a16:creationId xmlns:a16="http://schemas.microsoft.com/office/drawing/2014/main" id="{C45C888B-E970-40FF-8D05-D84DE9CAE3CE}"/>
              </a:ext>
            </a:extLst>
          </p:cNvPr>
          <p:cNvSpPr>
            <a:spLocks xmlns:a="http://schemas.openxmlformats.org/drawingml/2006/main" noGrp="1"/>
          </p:cNvSpPr>
          <p:nvPr/>
        </p:nvSpPr>
        <p:spPr>
          <a:xfrm xmlns:a="http://schemas.openxmlformats.org/drawingml/2006/main">
            <a:off x="609600" y="2562225"/>
            <a:ext cx="5095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One seed and one bounded class split</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Unknown source provenance and leakage risk</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High Benign FPR, weak novelty recall</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Mixed mitigation, unequal training work</a:t>
            </a:r>
          </a:p>
        </p:txBody>
      </p:sp>
      <p:sp>
        <p:nvSpPr>
          <p:cNvPr id="6" name="Planned local demonstration">
            <a:extLst xmlns:a="http://schemas.openxmlformats.org/drawingml/2006/main">
              <a:ext uri="{FF2B5EF4-FFF2-40B4-BE49-F238E27FC236}">
                <a16:creationId xmlns:a16="http://schemas.microsoft.com/office/drawing/2014/main" id="{FA33FB9B-7560-4027-A51B-8B3B170643AB}"/>
              </a:ext>
            </a:extLst>
          </p:cNvPr>
          <p:cNvSpPr>
            <a:spLocks xmlns:a="http://schemas.openxmlformats.org/drawingml/2006/main" noGrp="1"/>
          </p:cNvSpPr>
          <p:nvPr/>
        </p:nvSpPr>
        <p:spPr>
          <a:xfrm xmlns:a="http://schemas.openxmlformats.org/drawingml/2006/main">
            <a:off x="6400800" y="20383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77"/>
                </a:solidFill>
                <a:latin typeface="Aptos"/>
                <a:ea typeface="Aptos"/>
                <a:cs typeface="Aptos"/>
              </a:defRPr>
            </a:pPr>
            <a:r>
              <a:rPr sz="2025" b="1">
                <a:solidFill>
                  <a:srgbClr val="006D77"/>
                </a:solidFill>
                <a:latin typeface="Aptos"/>
                <a:ea typeface="Aptos"/>
                <a:cs typeface="Aptos"/>
              </a:rPr>
              <a:t>Planned local demonstration</a:t>
            </a:r>
          </a:p>
        </p:txBody>
      </p:sp>
      <p:sp>
        <p:nvSpPr>
          <p:cNvPr id="7" name="Load saved model and preprocessing&#10;Read a local flow fi">
            <a:extLst xmlns:a="http://schemas.openxmlformats.org/drawingml/2006/main">
              <a:ext uri="{FF2B5EF4-FFF2-40B4-BE49-F238E27FC236}">
                <a16:creationId xmlns:a16="http://schemas.microsoft.com/office/drawing/2014/main" id="{B610E4D2-FB2F-4947-BE06-380A33F8891B}"/>
              </a:ext>
            </a:extLst>
          </p:cNvPr>
          <p:cNvSpPr>
            <a:spLocks xmlns:a="http://schemas.openxmlformats.org/drawingml/2006/main" noGrp="1"/>
          </p:cNvSpPr>
          <p:nvPr/>
        </p:nvSpPr>
        <p:spPr>
          <a:xfrm xmlns:a="http://schemas.openxmlformats.org/drawingml/2006/main">
            <a:off x="6400800" y="2562225"/>
            <a:ext cx="51911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Load saved model and preprocessing</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Read a local flow file, show class probabilities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Flag low confidence and display saved metrics</a:t>
            </a:r>
          </a:p>
          <a:p xmlns:a="http://schemas.openxmlformats.org/drawingml/2006/main">
            <a:pPr>
              <a:defRPr sz="2025" b="0">
                <a:solidFill>
                  <a:srgbClr val="16313E"/>
                </a:solidFill>
                <a:latin typeface="Aptos"/>
                <a:ea typeface="Aptos"/>
                <a:cs typeface="Aptos"/>
              </a:defRPr>
            </a:pPr>
            <a:r>
              <a:rPr sz="2025" b="0">
                <a:solidFill>
                  <a:srgbClr val="16313E"/>
                </a:solidFill>
                <a:latin typeface="Aptos"/>
                <a:ea typeface="Aptos"/>
                <a:cs typeface="Aptos"/>
              </a:rPr>
              <a:t>Keep inference local with a reproducible command</a:t>
            </a:r>
          </a:p>
        </p:txBody>
      </p:sp>
      <p:sp>
        <p:nvSpPr>
          <p:cNvPr id="8" name="Next evidence: finish clean full-data evaluation, then ">
            <a:extLst xmlns:a="http://schemas.openxmlformats.org/drawingml/2006/main">
              <a:ext uri="{FF2B5EF4-FFF2-40B4-BE49-F238E27FC236}">
                <a16:creationId xmlns:a16="http://schemas.microsoft.com/office/drawing/2014/main" id="{3E66EA64-7D07-4B91-A6DC-5240C7EB53BC}"/>
              </a:ext>
            </a:extLst>
          </p:cNvPr>
          <p:cNvSpPr>
            <a:spLocks xmlns:a="http://schemas.openxmlformats.org/drawingml/2006/main" noGrp="1"/>
          </p:cNvSpPr>
          <p:nvPr/>
        </p:nvSpPr>
        <p:spPr>
          <a:xfrm xmlns:a="http://schemas.openxmlformats.org/drawingml/2006/main">
            <a:off x="609600"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442D"/>
                </a:solidFill>
                <a:latin typeface="Aptos"/>
                <a:ea typeface="Aptos"/>
                <a:cs typeface="Aptos"/>
              </a:defRPr>
            </a:pPr>
            <a:r>
              <a:rPr sz="1800" b="1">
                <a:solidFill>
                  <a:srgbClr val="A4442D"/>
                </a:solidFill>
                <a:latin typeface="Aptos"/>
                <a:ea typeface="Aptos"/>
                <a:cs typeface="Aptos"/>
              </a:rPr>
              <a:t>Next evidence: finish clean full-data evaluation, then continual/replay and poisoning comparisons.</a:t>
            </a:r>
          </a:p>
        </p:txBody>
      </p:sp>
    </p:spTree>
    <p:extLst>
      <p:ext uri="{BB962C8B-B14F-4D97-AF65-F5344CB8AC3E}">
        <p14:creationId xmlns:p14="http://schemas.microsoft.com/office/powerpoint/2010/main" val="810579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2026-10-03T05:22:03.5220000Z</dcterms:created>
  <dcterms:modified xsi:type="dcterms:W3CDTF">2026-10-03T05:22:03.5220000Z</dcterms:modified>
</coreProperties>
</file>